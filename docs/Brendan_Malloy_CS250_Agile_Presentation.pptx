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31b5c4b-7394-5934-8466-db8800fddfc1}">
          <p14:sldIdLst>
            <p14:sldId id="256"/>
            <p14:sldId id="257"/>
          </p14:sldIdLst>
        </p14:section>
        <p14:section name="Agile roles" id="{ba6be697-3523-d30d-bbb7-e2cb05b5197a}">
          <p14:sldIdLst>
            <p14:sldId id="258"/>
          </p14:sldIdLst>
        </p14:section>
        <p14:section name="Agile phases" id="{a08cae84-ae0f-4587-5632-b5cc9abc7dd2}">
          <p14:sldIdLst>
            <p14:sldId id="259"/>
            <p14:sldId id="260"/>
          </p14:sldIdLst>
        </p14:section>
        <p14:section name="Waterfall comparison" id="{32396259-9304-c2e6-d6b7-9875094e0096}">
          <p14:sldIdLst>
            <p14:sldId id="261"/>
            <p14:sldId id="262"/>
          </p14:sldIdLst>
        </p14:section>
        <p14:section name="Choosing an approach" id="{c2659601-996a-4f01-4a9c-0fda6ff8fc6b}">
          <p14:sldIdLst>
            <p14:sldId id="263"/>
            <p14:sldId id="264"/>
          </p14:sldIdLst>
        </p14:section>
        <p14:section name="References" id="{bf3318ab-7247-ca87-3010-cd1086d98f35}">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served as the Scrum Master for the SNHU Travel pilot, and over the course of the project I also worked as the Product Owner, a Developer, and the Tester. ChadaTech has used the waterfall model for years, and leadership asked our team to try Scrum first. This presentation explains the Scrum roles, how the phases of the software development life cycle work in an Agile approach, how our project would have gone under waterfall, and the factors I would weigh when choosing between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SNHU Travel is a travel agency that wants to reach more customers with niche vacation packages. Amanda, the client, wanted a working booking site within five weeks. These numbers come straight from the work our team produced. As Product Owner I turned a focus group meeting into six ranked user stories and wrote three of them out in detail with acceptance criteria. As Tester I wrote three test cases and then revised all three when the Product Owner sent a new wireframe. The project changed direction twice, once to a one-destination-per-slide format and once to detox and wellness travel. Because I worked each role, I can speak to what each one needed from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Scrum gives every kind of decision a single owner, and that is the main reason the roles matter. The Product Owner owns the Product Backlog and its order. On our team that was Christy. One person deciding what comes next kept us from building features out of order, and it gave the Developers one place to take questions. The Scrum Master runs the Scrum events, coaches the team on the process, and removes impediments. The Scrum Master does not assign work. On our team, Ron made sure nobody went around Christy to hand unplanned work straight to a Developer. The Developers build a usable increment every Sprint. Coleman (2024) explains that they own the Sprint Backlog and adjust it as they learn, as long as the work still moves toward the Sprint Goal. When I built the Top Five Destinations list, I added a landing page because the first acceptance criterion said the user clicks a link to reach the list. The Tester is part of the Developers in Scrum terms, but on our team it was a separate job: turning each acceptance criterion into a pass and fail check before a story counts as done. Stakeholders such as Amanda are not on the Scrum Team. The Scrum Guide Expansion Pack places them in the environment around the team (Jocham et al., 2025), and they shape the work through the Sprint Review. Verwijs and Russo (2023) found that Scrum teams are more effective when they stay close to stakeholder needs and can respond to them quickly. Clear roles are what make both of those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Agile does not remove the phases of the software development life cycle. Jackson et al. (2025) list planning, analysis, design, coding, testing, deployment, and maintenance, and they point out that waterfall completes those phases in sequence while an iterative approach like Agile works on them in parallel and in short cycles. In Scrum, every Sprint is a small pass through all of them. Planning and analysis matter because they point the team at the most valuable work first. In Sprint Planning the team agrees on a Sprint Goal and pulls the top stories from the backlog. Design matters because a quick sketch costs far less than code that gets thrown away. Our Product Owner's wireframe was enough design for that Sprint. Coding produces something real the team can inspect, not a document about it. Testing inside the Sprint means defects are found while the code is fresh, and a story is not done until its acceptance criteria pass. Deployment puts a usable increment in front of the client, which is where the real feedback comes from. Review and maintenance close the loop. The Sprint Review collects stakeholder feedback, the Retrospective improves how the team works, and both feed the next Sprint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each phase looked like on our project. Planning and analysis started with the Product Owner focus group. I turned what the users said into six user stories, sized each one, and ranked them, so the Top Five Destinations list came first. Design was light. When I asked the Product Owner questions about my test cases, she answered with a wireframe that showed one destination per slide with Previous and Next buttons. Coding produced the Top Five Destinations list in Java Swing and, later, the wellness slide show. Testing happened in the same Sprint as the code. Each acceptance criterion became a step with a pass and fail measure, and when the wireframe changed the screen, I revised all three test cases. Deployment was an exported JAR file, which meant the Tester ran exactly the build the Developer delivered. Review and maintenance happen at the Sprint Review, where the increment is shown to Amanda, and at the Retrospective, where our charter says the team agrees on one improvement. The point is that no phase was skipped. Each one just happened at a smaller size, many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waterfall model, the same phases run once, in a fixed order. Requirements are gathered and approved, then the whole system is designed, then built, then tested, then deployed and maintained. Jackson et al. (2025) describe waterfall as completing the phases sequentially, which is the key difference from Agile. Mishra and Alzoubi (2023) compared structured and agile development and found that customers in a structured model take part mainly during initial planning and final evaluation, while agile depends on customers being engaged throughout. They also found that waterfall works best when requirements are well defined and stable from the start, and that agile suits projects where requirements are unknown or likely to change. Waterfall is not a bad model. It gives clear documentation and predictable milestones. The problem is that it assumes we know what the client wants before we start, and on SNHU Travel we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clearest example of the difference from our project. Midway through, SNHU Travel management decided the booking tool should focus on detox and wellness travel. Under Scrum, Christy made it clear that existing work was not being thrown out and that only the vacation types had to change. As the Developer, I kept the slide show navigation that already worked and replaced the five slides with wellness trips. I sent my questions to Christy and the Tester and asked for answers before the next Daily Scrum, so nothing sat waiting. The test cases were updated in the same Sprint. Under waterfall, the requirements would already have been signed off. The change would need a formal change request, the design documents would be reopened and approved again, any code written to the old plan would be reworked, and testing would not start until the build was finished. The earlier wireframe change shows the same thing on a smaller scale. Because I was writing test cases during the Sprint, my questions to the Product Owner surfaced the slide show format before any code depended on it. In waterfall, test cases are usually written after the build, so a mismatch like that might not show up until system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factors I would weigh when choosing an approach for a new ChadaTech project. The first three come from Mishra and Alzoubi (2023). Waterfall fits best when requirements are well defined and stable, while agile suits requirements that are unknown or likely to change. Agile also depends on a customer who stays engaged through development, while waterfall involves the customer mostly at the start and the end. On size, they found agile favored for small projects and waterfall more suitable for large ones, and they suggest a hybrid for large projects with dispersed teams. The last two come from our pilot. When change arrives mid-project, Agile keeps the cost low because the work is already split into small pieces. When the client needs working software quickly, as Amanda did with a five-week deadline, Agile delivers usable increments along the way. For SNHU Travel, every row pointed toward Agile. The requirements came from a focus group and changed twice, the client could review work each Sprint, and we were one small team. A project with a fixed scope, a large distributed team, or heavy sign-off requirements could reasonably land on the waterfall side or on a hybrid.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recommendation is that ChadaTech move its client teams to Scrum, while keeping a plan-driven option for the right kind of project. First, use Scrum for work whose requirements will evolve. SNHU Travel changed direction twice, and both changes were handled inside a Sprint without starting over. Second, keep waterfall or a hybrid available for projects with fixed scope and formal sign-offs. Mishra and Alzoubi (2023) found that structured development fits stable, well-defined requirements and that hybrids can serve large projects with dispersed teams. Third, carry three lessons from the pilot. Our acceptance criteria had no measurable limits, such as page load time, so testers had to guess at pass measures. Our decisions lived in email, where they were easy to lose, so a shared board such as Azure Boards or Jira should hold them on the work item. And work that needed the Product Owner's answer sat still until she replied, so teams need protected Product Owner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sources cited in this presentation, formatted in APA style. All were published within the last five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pic>
        <p:nvPicPr>
          <p:cNvPr id="2" name="Image 0" descr="/home/claude/work/logo_crop.png">    </p:cNvPr>
          <p:cNvPicPr>
            <a:picLocks noChangeAspect="1"/>
          </p:cNvPicPr>
          <p:nvPr/>
        </p:nvPicPr>
        <p:blipFill>
          <a:blip r:embed="rId1"/>
          <a:stretch>
            <a:fillRect/>
          </a:stretch>
        </p:blipFill>
        <p:spPr>
          <a:xfrm>
            <a:off x="5074920" y="1143000"/>
            <a:ext cx="3657600" cy="2575330"/>
          </a:xfrm>
          <a:prstGeom prst="rect">
            <a:avLst/>
          </a:prstGeom>
        </p:spPr>
      </p:pic>
      <p:sp>
        <p:nvSpPr>
          <p:cNvPr id="3" name="Text 0"/>
          <p:cNvSpPr/>
          <p:nvPr>
            <p:ph idx="101" type="title" hasCustomPrompt="1"/>
          </p:nvPr>
        </p:nvSpPr>
        <p:spPr>
          <a:xfrm>
            <a:off x="457200" y="1234440"/>
            <a:ext cx="4572000" cy="12801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457200" y="2606040"/>
            <a:ext cx="4572000" cy="457200"/>
          </a:xfrm>
          <a:prstGeom prst="rect">
            <a:avLst/>
          </a:prstGeom>
          <a:noFill/>
          <a:ln/>
        </p:spPr>
        <p:txBody>
          <a:bodyPr wrap="square" rtlCol="0"/>
          <a:lstStyle>
            <a:lvl1pPr algn="l" indent="0" marL="0">
              <a:buNone/>
              <a:defRPr lang="en-US" sz="2000" dirty="0">
                <a:solidFill>
                  <a:schemeClr val="tx2"/>
                </a:solidFill>
              </a:defRPr>
            </a:lvl1pPr>
          </a:lstStyle>
          <a:p>
            <a:pPr algn="l" indent="0" marL="0">
              <a:buNone/>
            </a:pPr>
            <a:endParaRPr lang="en-US" sz="2000" dirty="0"/>
          </a:p>
        </p:txBody>
      </p:sp>
      <p:sp>
        <p:nvSpPr>
          <p:cNvPr id="5" name="Text 0"/>
          <p:cNvSpPr/>
          <p:nvPr>
            <p:ph idx="103" type="body" hasCustomPrompt="1"/>
          </p:nvPr>
        </p:nvSpPr>
        <p:spPr>
          <a:xfrm>
            <a:off x="457200" y="3429000"/>
            <a:ext cx="4572000" cy="731520"/>
          </a:xfrm>
          <a:prstGeom prst="rect">
            <a:avLst/>
          </a:prstGeom>
          <a:noFill/>
          <a:ln/>
        </p:spPr>
        <p:txBody>
          <a:bodyPr wrap="square" rtlCol="0"/>
          <a:lstStyle>
            <a:lvl1pPr algn="l" indent="0" marL="0">
              <a:buNone/>
              <a:defRPr lang="en-US" sz="1400" dirty="0">
                <a:solidFill>
                  <a:schemeClr val="accent4"/>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457200" y="374904"/>
            <a:ext cx="109728" cy="109728"/>
          </a:xfrm>
          <a:prstGeom prst="rect">
            <a:avLst/>
          </a:prstGeom>
          <a:solidFill>
            <a:schemeClr val="accent1"/>
          </a:solidFill>
          <a:ln/>
        </p:spPr>
      </p:sp>
      <p:sp>
        <p:nvSpPr>
          <p:cNvPr id="3" name="Text 1"/>
          <p:cNvSpPr/>
          <p:nvPr>
            <p:ph idx="101" type="body" hasCustomPrompt="1"/>
          </p:nvPr>
        </p:nvSpPr>
        <p:spPr>
          <a:xfrm>
            <a:off x="658368" y="292608"/>
            <a:ext cx="5486400" cy="274320"/>
          </a:xfrm>
          <a:prstGeom prst="rect">
            <a:avLst/>
          </a:prstGeom>
          <a:noFill/>
          <a:ln/>
        </p:spPr>
        <p:txBody>
          <a:bodyPr wrap="square" rtlCol="0"/>
          <a:lstStyle>
            <a:lvl1pPr algn="l" indent="0" marL="0">
              <a:buNone/>
              <a:defRPr lang="en-US" sz="1100" b="1" spc="100" kern="0" dirty="0">
                <a:solidFill>
                  <a:schemeClr val="tx2"/>
                </a:solidFill>
              </a:defRPr>
            </a:lvl1pPr>
          </a:lstStyle>
          <a:p>
            <a:pPr algn="l" indent="0" marL="0">
              <a:buNone/>
            </a:pPr>
            <a:endParaRPr lang="en-US" sz="1100" dirty="0"/>
          </a:p>
        </p:txBody>
      </p:sp>
      <p:sp>
        <p:nvSpPr>
          <p:cNvPr id="4" name="Text 1"/>
          <p:cNvSpPr/>
          <p:nvPr>
            <p:ph idx="102" type="title" hasCustomPrompt="1"/>
          </p:nvPr>
        </p:nvSpPr>
        <p:spPr>
          <a:xfrm>
            <a:off x="457200" y="566928"/>
            <a:ext cx="8229600" cy="54864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5" name="Text 1"/>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ChadaTech  |  SNHU Travel Scrum pilot</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Shape 0"/>
          <p:cNvSpPr/>
          <p:nvPr/>
        </p:nvSpPr>
        <p:spPr>
          <a:xfrm>
            <a:off x="457200" y="374904"/>
            <a:ext cx="109728" cy="109728"/>
          </a:xfrm>
          <a:prstGeom prst="rect">
            <a:avLst/>
          </a:prstGeom>
          <a:solidFill>
            <a:schemeClr val="accent1"/>
          </a:solidFill>
          <a:ln/>
        </p:spPr>
      </p:sp>
      <p:sp>
        <p:nvSpPr>
          <p:cNvPr id="3" name="Text 1"/>
          <p:cNvSpPr/>
          <p:nvPr>
            <p:ph idx="101" type="body" hasCustomPrompt="1"/>
          </p:nvPr>
        </p:nvSpPr>
        <p:spPr>
          <a:xfrm>
            <a:off x="658368" y="292608"/>
            <a:ext cx="5486400" cy="274320"/>
          </a:xfrm>
          <a:prstGeom prst="rect">
            <a:avLst/>
          </a:prstGeom>
          <a:noFill/>
          <a:ln/>
        </p:spPr>
        <p:txBody>
          <a:bodyPr wrap="square" rtlCol="0"/>
          <a:lstStyle>
            <a:lvl1pPr algn="l" indent="0" marL="0">
              <a:buNone/>
              <a:defRPr lang="en-US" sz="1100" b="1" spc="100" kern="0" dirty="0">
                <a:solidFill>
                  <a:schemeClr val="accent1"/>
                </a:solidFill>
              </a:defRPr>
            </a:lvl1pPr>
          </a:lstStyle>
          <a:p>
            <a:pPr algn="l" indent="0" marL="0">
              <a:buNone/>
            </a:pPr>
            <a:endParaRPr lang="en-US" sz="1100" dirty="0"/>
          </a:p>
        </p:txBody>
      </p:sp>
      <p:sp>
        <p:nvSpPr>
          <p:cNvPr id="4" name="Text 1"/>
          <p:cNvSpPr/>
          <p:nvPr>
            <p:ph idx="102" type="title" hasCustomPrompt="1"/>
          </p:nvPr>
        </p:nvSpPr>
        <p:spPr>
          <a:xfrm>
            <a:off x="457200" y="566928"/>
            <a:ext cx="8229600" cy="54864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5" name="Text 1"/>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ChadaTech  |  SNHU Travel Scrum pilot</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457200" y="1234440"/>
            <a:ext cx="4572000" cy="1280160"/>
          </a:xfrm>
          <a:prstGeom prst="rect">
            <a:avLst/>
          </a:prstGeom>
          <a:noFill/>
          <a:ln/>
        </p:spPr>
        <p:txBody>
          <a:bodyPr wrap="square" lIns="0" tIns="0" rIns="0" bIns="0" rtlCol="0" anchor="b"/>
          <a:lstStyle/>
          <a:p>
            <a:pPr algn="l" indent="0" marL="0">
              <a:buNone/>
            </a:pPr>
            <a:r>
              <a:rPr lang="en-US" sz="3600" b="1" dirty="0">
                <a:solidFill>
                  <a:schemeClr val="tx1"/>
                </a:solidFill>
              </a:rPr>
              <a:t>Moving ChadaTech</a:t>
            </a:r>
            <a:endParaRPr lang="en-US" sz="3600" dirty="0"/>
          </a:p>
          <a:p>
            <a:pPr algn="l" indent="0" marL="0">
              <a:buNone/>
            </a:pPr>
            <a:r>
              <a:rPr lang="en-US" sz="3600" b="1" dirty="0">
                <a:solidFill>
                  <a:schemeClr val="tx1"/>
                </a:solidFill>
              </a:rPr>
              <a:t>to Scrum</a:t>
            </a:r>
            <a:endParaRPr lang="en-US" sz="3600" dirty="0"/>
          </a:p>
        </p:txBody>
      </p:sp>
      <p:sp>
        <p:nvSpPr>
          <p:cNvPr id="3" name="Text 0"/>
          <p:cNvSpPr/>
          <p:nvPr>
            <p:ph idx="102" type="body" hasCustomPrompt="1"/>
          </p:nvPr>
        </p:nvSpPr>
        <p:spPr>
          <a:xfrm>
            <a:off x="457200" y="2606040"/>
            <a:ext cx="4572000" cy="457200"/>
          </a:xfrm>
          <a:prstGeom prst="rect">
            <a:avLst/>
          </a:prstGeom>
          <a:noFill/>
          <a:ln/>
        </p:spPr>
        <p:txBody>
          <a:bodyPr wrap="square" lIns="0" tIns="0" rIns="0" bIns="0" rtlCol="0" anchor="t"/>
          <a:lstStyle/>
          <a:p>
            <a:pPr algn="l" indent="0" marL="0">
              <a:buNone/>
            </a:pPr>
            <a:r>
              <a:rPr lang="en-US" sz="2000" dirty="0">
                <a:solidFill>
                  <a:schemeClr val="tx2"/>
                </a:solidFill>
              </a:rPr>
              <a:t>Lessons from the SNHU Travel pilot</a:t>
            </a:r>
            <a:endParaRPr lang="en-US" sz="2000" dirty="0"/>
          </a:p>
        </p:txBody>
      </p:sp>
      <p:sp>
        <p:nvSpPr>
          <p:cNvPr id="4" name="Text 0"/>
          <p:cNvSpPr/>
          <p:nvPr>
            <p:ph idx="103" type="body" hasCustomPrompt="1"/>
          </p:nvPr>
        </p:nvSpPr>
        <p:spPr>
          <a:xfrm>
            <a:off x="457200" y="3429000"/>
            <a:ext cx="4572000" cy="731520"/>
          </a:xfrm>
          <a:prstGeom prst="rect">
            <a:avLst/>
          </a:prstGeom>
          <a:noFill/>
          <a:ln/>
        </p:spPr>
        <p:txBody>
          <a:bodyPr wrap="square" lIns="0" tIns="0" rIns="0" bIns="0" rtlCol="0" anchor="t"/>
          <a:lstStyle/>
          <a:p>
            <a:pPr algn="l" indent="0" marL="0">
              <a:buNone/>
            </a:pPr>
            <a:r>
              <a:rPr lang="en-US" sz="1400" dirty="0">
                <a:solidFill>
                  <a:schemeClr val="accent4"/>
                </a:solidFill>
              </a:rPr>
              <a:t>Brendan Malloy, Scrum Master</a:t>
            </a:r>
            <a:endParaRPr lang="en-US" sz="1400" dirty="0"/>
          </a:p>
          <a:p>
            <a:pPr algn="l" indent="0" marL="0">
              <a:buNone/>
            </a:pPr>
            <a:r>
              <a:rPr lang="en-US" sz="1400" dirty="0">
                <a:solidFill>
                  <a:schemeClr val="accent4"/>
                </a:solidFill>
              </a:rPr>
              <a:t>Prepared for ChadaTech leadership,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658368" y="292608"/>
            <a:ext cx="5486400" cy="274320"/>
          </a:xfrm>
          <a:prstGeom prst="rect">
            <a:avLst/>
          </a:prstGeom>
          <a:noFill/>
          <a:ln/>
        </p:spPr>
        <p:txBody>
          <a:bodyPr wrap="square" lIns="0" tIns="0" rIns="0" bIns="0" rtlCol="0" anchor="ctr"/>
          <a:lstStyle/>
          <a:p>
            <a:pPr algn="l" indent="0" marL="0">
              <a:buNone/>
            </a:pPr>
            <a:r>
              <a:rPr lang="en-US" sz="1100" b="1" spc="100" kern="0" dirty="0">
                <a:solidFill>
                  <a:schemeClr val="tx2"/>
                </a:solidFill>
              </a:rPr>
              <a:t>THE PILOT</a:t>
            </a:r>
            <a:endParaRPr lang="en-US" sz="1100" dirty="0"/>
          </a:p>
        </p:txBody>
      </p:sp>
      <p:sp>
        <p:nvSpPr>
          <p:cNvPr id="3" name="Text 1"/>
          <p:cNvSpPr/>
          <p:nvPr>
            <p:ph idx="102" type="title" hasCustomPrompt="1"/>
          </p:nvPr>
        </p:nvSpPr>
        <p:spPr>
          <a:xfrm>
            <a:off x="457200" y="566928"/>
            <a:ext cx="8229600" cy="548640"/>
          </a:xfrm>
          <a:prstGeom prst="rect">
            <a:avLst/>
          </a:prstGeom>
          <a:noFill/>
          <a:ln/>
        </p:spPr>
        <p:txBody>
          <a:bodyPr wrap="square" lIns="0" tIns="0" rIns="0" bIns="0" rtlCol="0" anchor="t"/>
          <a:lstStyle/>
          <a:p>
            <a:pPr algn="l" indent="0" marL="0">
              <a:buNone/>
            </a:pPr>
            <a:r>
              <a:rPr lang="en-US" sz="2800" b="1" dirty="0">
                <a:solidFill>
                  <a:schemeClr val="tx1"/>
                </a:solidFill>
              </a:rPr>
              <a:t>The SNHU Travel pilot at a glance</a:t>
            </a:r>
            <a:endParaRPr lang="en-US" sz="2800" dirty="0"/>
          </a:p>
        </p:txBody>
      </p:sp>
      <p:sp>
        <p:nvSpPr>
          <p:cNvPr id="4" name="Stat 1 card"/>
          <p:cNvSpPr/>
          <p:nvPr/>
        </p:nvSpPr>
        <p:spPr>
          <a:xfrm>
            <a:off x="457200" y="1325880"/>
            <a:ext cx="1499616" cy="1600200"/>
          </a:xfrm>
          <a:prstGeom prst="rect">
            <a:avLst/>
          </a:prstGeom>
          <a:solidFill>
            <a:schemeClr val="bg2"/>
          </a:solidFill>
          <a:ln/>
        </p:spPr>
      </p:sp>
      <p:sp>
        <p:nvSpPr>
          <p:cNvPr id="5" name="Stat 1 marker"/>
          <p:cNvSpPr/>
          <p:nvPr/>
        </p:nvSpPr>
        <p:spPr>
          <a:xfrm>
            <a:off x="594360" y="1463040"/>
            <a:ext cx="91440" cy="91440"/>
          </a:xfrm>
          <a:prstGeom prst="rect">
            <a:avLst/>
          </a:prstGeom>
          <a:solidFill>
            <a:schemeClr val="accent1"/>
          </a:solidFill>
          <a:ln/>
        </p:spPr>
      </p:sp>
      <p:sp>
        <p:nvSpPr>
          <p:cNvPr id="6" name="Stat 1 value"/>
          <p:cNvSpPr txBox="1"/>
          <p:nvPr/>
        </p:nvSpPr>
        <p:spPr>
          <a:xfrm>
            <a:off x="594360" y="1572768"/>
            <a:ext cx="1234440" cy="685800"/>
          </a:xfrm>
          <a:prstGeom prst="rect">
            <a:avLst/>
          </a:prstGeom>
          <a:noFill/>
          <a:ln/>
        </p:spPr>
        <p:txBody>
          <a:bodyPr wrap="square" lIns="0" tIns="0" rIns="0" bIns="0" rtlCol="0" anchor="ctr"/>
          <a:lstStyle/>
          <a:p>
            <a:pPr indent="0" marL="0">
              <a:buNone/>
            </a:pPr>
            <a:r>
              <a:rPr lang="en-US" sz="4400" b="1" dirty="0">
                <a:solidFill>
                  <a:schemeClr val="tx2"/>
                </a:solidFill>
                <a:latin typeface="+mj-lt" pitchFamily="34" charset="0"/>
                <a:ea typeface="+mj-lt" pitchFamily="34" charset="-122"/>
                <a:cs typeface="+mj-lt" pitchFamily="34" charset="-120"/>
              </a:rPr>
              <a:t>6</a:t>
            </a:r>
            <a:endParaRPr lang="en-US" sz="4400" dirty="0"/>
          </a:p>
        </p:txBody>
      </p:sp>
      <p:sp>
        <p:nvSpPr>
          <p:cNvPr id="7" name="Stat 1 label"/>
          <p:cNvSpPr txBox="1"/>
          <p:nvPr/>
        </p:nvSpPr>
        <p:spPr>
          <a:xfrm>
            <a:off x="594360" y="2286000"/>
            <a:ext cx="1261872" cy="594360"/>
          </a:xfrm>
          <a:prstGeom prst="rect">
            <a:avLst/>
          </a:prstGeom>
          <a:noFill/>
          <a:ln/>
        </p:spPr>
        <p:txBody>
          <a:bodyPr wrap="square" lIns="0" tIns="0" rIns="0" bIns="0" rtlCol="0" anchor="t"/>
          <a:lstStyle/>
          <a:p>
            <a:pPr indent="0" marL="0">
              <a:buNone/>
            </a:pPr>
            <a:r>
              <a:rPr lang="en-US" sz="1300" dirty="0">
                <a:solidFill>
                  <a:schemeClr val="tx1"/>
                </a:solidFill>
              </a:rPr>
              <a:t>user stories in the Product Backlog</a:t>
            </a:r>
            <a:endParaRPr lang="en-US" sz="1300" dirty="0"/>
          </a:p>
        </p:txBody>
      </p:sp>
      <p:sp>
        <p:nvSpPr>
          <p:cNvPr id="8" name="Stat 2 card"/>
          <p:cNvSpPr/>
          <p:nvPr/>
        </p:nvSpPr>
        <p:spPr>
          <a:xfrm>
            <a:off x="2139696" y="1325880"/>
            <a:ext cx="1499616" cy="1600200"/>
          </a:xfrm>
          <a:prstGeom prst="rect">
            <a:avLst/>
          </a:prstGeom>
          <a:solidFill>
            <a:schemeClr val="bg2"/>
          </a:solidFill>
          <a:ln/>
        </p:spPr>
      </p:sp>
      <p:sp>
        <p:nvSpPr>
          <p:cNvPr id="9" name="Stat 2 marker"/>
          <p:cNvSpPr/>
          <p:nvPr/>
        </p:nvSpPr>
        <p:spPr>
          <a:xfrm>
            <a:off x="2276856" y="1463040"/>
            <a:ext cx="91440" cy="91440"/>
          </a:xfrm>
          <a:prstGeom prst="rect">
            <a:avLst/>
          </a:prstGeom>
          <a:solidFill>
            <a:schemeClr val="accent1"/>
          </a:solidFill>
          <a:ln/>
        </p:spPr>
      </p:sp>
      <p:sp>
        <p:nvSpPr>
          <p:cNvPr id="10" name="Stat 2 value"/>
          <p:cNvSpPr txBox="1"/>
          <p:nvPr/>
        </p:nvSpPr>
        <p:spPr>
          <a:xfrm>
            <a:off x="2276856" y="1572768"/>
            <a:ext cx="1234440" cy="685800"/>
          </a:xfrm>
          <a:prstGeom prst="rect">
            <a:avLst/>
          </a:prstGeom>
          <a:noFill/>
          <a:ln/>
        </p:spPr>
        <p:txBody>
          <a:bodyPr wrap="square" lIns="0" tIns="0" rIns="0" bIns="0" rtlCol="0" anchor="ctr"/>
          <a:lstStyle/>
          <a:p>
            <a:pPr indent="0" marL="0">
              <a:buNone/>
            </a:pPr>
            <a:r>
              <a:rPr lang="en-US" sz="4400" b="1" dirty="0">
                <a:solidFill>
                  <a:schemeClr val="tx2"/>
                </a:solidFill>
                <a:latin typeface="+mj-lt" pitchFamily="34" charset="0"/>
                <a:ea typeface="+mj-lt" pitchFamily="34" charset="-122"/>
                <a:cs typeface="+mj-lt" pitchFamily="34" charset="-120"/>
              </a:rPr>
              <a:t>3</a:t>
            </a:r>
            <a:endParaRPr lang="en-US" sz="4400" dirty="0"/>
          </a:p>
        </p:txBody>
      </p:sp>
      <p:sp>
        <p:nvSpPr>
          <p:cNvPr id="11" name="Stat 2 label"/>
          <p:cNvSpPr txBox="1"/>
          <p:nvPr/>
        </p:nvSpPr>
        <p:spPr>
          <a:xfrm>
            <a:off x="2276856" y="2286000"/>
            <a:ext cx="1261872" cy="594360"/>
          </a:xfrm>
          <a:prstGeom prst="rect">
            <a:avLst/>
          </a:prstGeom>
          <a:noFill/>
          <a:ln/>
        </p:spPr>
        <p:txBody>
          <a:bodyPr wrap="square" lIns="0" tIns="0" rIns="0" bIns="0" rtlCol="0" anchor="t"/>
          <a:lstStyle/>
          <a:p>
            <a:pPr indent="0" marL="0">
              <a:buNone/>
            </a:pPr>
            <a:r>
              <a:rPr lang="en-US" sz="1300" dirty="0">
                <a:solidFill>
                  <a:schemeClr val="tx1"/>
                </a:solidFill>
              </a:rPr>
              <a:t>detailed stories with acceptance criteria</a:t>
            </a:r>
            <a:endParaRPr lang="en-US" sz="1300" dirty="0"/>
          </a:p>
        </p:txBody>
      </p:sp>
      <p:sp>
        <p:nvSpPr>
          <p:cNvPr id="12" name="Stat 3 card"/>
          <p:cNvSpPr/>
          <p:nvPr/>
        </p:nvSpPr>
        <p:spPr>
          <a:xfrm>
            <a:off x="3822192" y="1325880"/>
            <a:ext cx="1499616" cy="1600200"/>
          </a:xfrm>
          <a:prstGeom prst="rect">
            <a:avLst/>
          </a:prstGeom>
          <a:solidFill>
            <a:schemeClr val="bg2"/>
          </a:solidFill>
          <a:ln/>
        </p:spPr>
      </p:sp>
      <p:sp>
        <p:nvSpPr>
          <p:cNvPr id="13" name="Stat 3 marker"/>
          <p:cNvSpPr/>
          <p:nvPr/>
        </p:nvSpPr>
        <p:spPr>
          <a:xfrm>
            <a:off x="3959352" y="1463040"/>
            <a:ext cx="91440" cy="91440"/>
          </a:xfrm>
          <a:prstGeom prst="rect">
            <a:avLst/>
          </a:prstGeom>
          <a:solidFill>
            <a:schemeClr val="accent1"/>
          </a:solidFill>
          <a:ln/>
        </p:spPr>
      </p:sp>
      <p:sp>
        <p:nvSpPr>
          <p:cNvPr id="14" name="Stat 3 value"/>
          <p:cNvSpPr txBox="1"/>
          <p:nvPr/>
        </p:nvSpPr>
        <p:spPr>
          <a:xfrm>
            <a:off x="3959352" y="1572768"/>
            <a:ext cx="1234440" cy="685800"/>
          </a:xfrm>
          <a:prstGeom prst="rect">
            <a:avLst/>
          </a:prstGeom>
          <a:noFill/>
          <a:ln/>
        </p:spPr>
        <p:txBody>
          <a:bodyPr wrap="square" lIns="0" tIns="0" rIns="0" bIns="0" rtlCol="0" anchor="ctr"/>
          <a:lstStyle/>
          <a:p>
            <a:pPr indent="0" marL="0">
              <a:buNone/>
            </a:pPr>
            <a:r>
              <a:rPr lang="en-US" sz="4400" b="1" dirty="0">
                <a:solidFill>
                  <a:schemeClr val="tx2"/>
                </a:solidFill>
                <a:latin typeface="+mj-lt" pitchFamily="34" charset="0"/>
                <a:ea typeface="+mj-lt" pitchFamily="34" charset="-122"/>
                <a:cs typeface="+mj-lt" pitchFamily="34" charset="-120"/>
              </a:rPr>
              <a:t>6</a:t>
            </a:r>
            <a:endParaRPr lang="en-US" sz="4400" dirty="0"/>
          </a:p>
        </p:txBody>
      </p:sp>
      <p:sp>
        <p:nvSpPr>
          <p:cNvPr id="15" name="Stat 3 label"/>
          <p:cNvSpPr txBox="1"/>
          <p:nvPr/>
        </p:nvSpPr>
        <p:spPr>
          <a:xfrm>
            <a:off x="3959352" y="2286000"/>
            <a:ext cx="1261872" cy="594360"/>
          </a:xfrm>
          <a:prstGeom prst="rect">
            <a:avLst/>
          </a:prstGeom>
          <a:noFill/>
          <a:ln/>
        </p:spPr>
        <p:txBody>
          <a:bodyPr wrap="square" lIns="0" tIns="0" rIns="0" bIns="0" rtlCol="0" anchor="t"/>
          <a:lstStyle/>
          <a:p>
            <a:pPr indent="0" marL="0">
              <a:buNone/>
            </a:pPr>
            <a:r>
              <a:rPr lang="en-US" sz="1300" dirty="0">
                <a:solidFill>
                  <a:schemeClr val="tx1"/>
                </a:solidFill>
              </a:rPr>
              <a:t>test cases, three written and three revised</a:t>
            </a:r>
            <a:endParaRPr lang="en-US" sz="1300" dirty="0"/>
          </a:p>
        </p:txBody>
      </p:sp>
      <p:sp>
        <p:nvSpPr>
          <p:cNvPr id="16" name="Stat 4 card"/>
          <p:cNvSpPr/>
          <p:nvPr/>
        </p:nvSpPr>
        <p:spPr>
          <a:xfrm>
            <a:off x="5504688" y="1325880"/>
            <a:ext cx="1499616" cy="1600200"/>
          </a:xfrm>
          <a:prstGeom prst="rect">
            <a:avLst/>
          </a:prstGeom>
          <a:solidFill>
            <a:schemeClr val="bg2"/>
          </a:solidFill>
          <a:ln/>
        </p:spPr>
      </p:sp>
      <p:sp>
        <p:nvSpPr>
          <p:cNvPr id="17" name="Stat 4 marker"/>
          <p:cNvSpPr/>
          <p:nvPr/>
        </p:nvSpPr>
        <p:spPr>
          <a:xfrm>
            <a:off x="5641848" y="1463040"/>
            <a:ext cx="91440" cy="91440"/>
          </a:xfrm>
          <a:prstGeom prst="rect">
            <a:avLst/>
          </a:prstGeom>
          <a:solidFill>
            <a:schemeClr val="accent1"/>
          </a:solidFill>
          <a:ln/>
        </p:spPr>
      </p:sp>
      <p:sp>
        <p:nvSpPr>
          <p:cNvPr id="18" name="Stat 4 value"/>
          <p:cNvSpPr txBox="1"/>
          <p:nvPr/>
        </p:nvSpPr>
        <p:spPr>
          <a:xfrm>
            <a:off x="5641848" y="1572768"/>
            <a:ext cx="1234440" cy="685800"/>
          </a:xfrm>
          <a:prstGeom prst="rect">
            <a:avLst/>
          </a:prstGeom>
          <a:noFill/>
          <a:ln/>
        </p:spPr>
        <p:txBody>
          <a:bodyPr wrap="square" lIns="0" tIns="0" rIns="0" bIns="0" rtlCol="0" anchor="ctr"/>
          <a:lstStyle/>
          <a:p>
            <a:pPr indent="0" marL="0">
              <a:buNone/>
            </a:pPr>
            <a:r>
              <a:rPr lang="en-US" sz="4400" b="1" dirty="0">
                <a:solidFill>
                  <a:schemeClr val="tx2"/>
                </a:solidFill>
                <a:latin typeface="+mj-lt" pitchFamily="34" charset="0"/>
                <a:ea typeface="+mj-lt" pitchFamily="34" charset="-122"/>
                <a:cs typeface="+mj-lt" pitchFamily="34" charset="-120"/>
              </a:rPr>
              <a:t>2</a:t>
            </a:r>
            <a:endParaRPr lang="en-US" sz="4400" dirty="0"/>
          </a:p>
        </p:txBody>
      </p:sp>
      <p:sp>
        <p:nvSpPr>
          <p:cNvPr id="19" name="Stat 4 label"/>
          <p:cNvSpPr txBox="1"/>
          <p:nvPr/>
        </p:nvSpPr>
        <p:spPr>
          <a:xfrm>
            <a:off x="5641848" y="2286000"/>
            <a:ext cx="1261872" cy="594360"/>
          </a:xfrm>
          <a:prstGeom prst="rect">
            <a:avLst/>
          </a:prstGeom>
          <a:noFill/>
          <a:ln/>
        </p:spPr>
        <p:txBody>
          <a:bodyPr wrap="square" lIns="0" tIns="0" rIns="0" bIns="0" rtlCol="0" anchor="t"/>
          <a:lstStyle/>
          <a:p>
            <a:pPr indent="0" marL="0">
              <a:buNone/>
            </a:pPr>
            <a:r>
              <a:rPr lang="en-US" sz="1300" dirty="0">
                <a:solidFill>
                  <a:schemeClr val="tx1"/>
                </a:solidFill>
              </a:rPr>
              <a:t>changes in direction during the project</a:t>
            </a:r>
            <a:endParaRPr lang="en-US" sz="1300" dirty="0"/>
          </a:p>
        </p:txBody>
      </p:sp>
      <p:sp>
        <p:nvSpPr>
          <p:cNvPr id="20" name="Stat 5 card"/>
          <p:cNvSpPr/>
          <p:nvPr/>
        </p:nvSpPr>
        <p:spPr>
          <a:xfrm>
            <a:off x="7187184" y="1325880"/>
            <a:ext cx="1499616" cy="1600200"/>
          </a:xfrm>
          <a:prstGeom prst="rect">
            <a:avLst/>
          </a:prstGeom>
          <a:solidFill>
            <a:schemeClr val="bg2"/>
          </a:solidFill>
          <a:ln/>
        </p:spPr>
      </p:sp>
      <p:sp>
        <p:nvSpPr>
          <p:cNvPr id="21" name="Stat 5 marker"/>
          <p:cNvSpPr/>
          <p:nvPr/>
        </p:nvSpPr>
        <p:spPr>
          <a:xfrm>
            <a:off x="7324344" y="1463040"/>
            <a:ext cx="91440" cy="91440"/>
          </a:xfrm>
          <a:prstGeom prst="rect">
            <a:avLst/>
          </a:prstGeom>
          <a:solidFill>
            <a:schemeClr val="accent1"/>
          </a:solidFill>
          <a:ln/>
        </p:spPr>
      </p:sp>
      <p:sp>
        <p:nvSpPr>
          <p:cNvPr id="22" name="Stat 5 value"/>
          <p:cNvSpPr txBox="1"/>
          <p:nvPr/>
        </p:nvSpPr>
        <p:spPr>
          <a:xfrm>
            <a:off x="7324344" y="1572768"/>
            <a:ext cx="1234440" cy="685800"/>
          </a:xfrm>
          <a:prstGeom prst="rect">
            <a:avLst/>
          </a:prstGeom>
          <a:noFill/>
          <a:ln/>
        </p:spPr>
        <p:txBody>
          <a:bodyPr wrap="square" lIns="0" tIns="0" rIns="0" bIns="0" rtlCol="0" anchor="ctr"/>
          <a:lstStyle/>
          <a:p>
            <a:pPr indent="0" marL="0">
              <a:buNone/>
            </a:pPr>
            <a:r>
              <a:rPr lang="en-US" sz="4400" b="1" dirty="0">
                <a:solidFill>
                  <a:schemeClr val="tx2"/>
                </a:solidFill>
                <a:latin typeface="+mj-lt" pitchFamily="34" charset="0"/>
                <a:ea typeface="+mj-lt" pitchFamily="34" charset="-122"/>
                <a:cs typeface="+mj-lt" pitchFamily="34" charset="-120"/>
              </a:rPr>
              <a:t>5</a:t>
            </a:r>
            <a:endParaRPr lang="en-US" sz="4400" dirty="0"/>
          </a:p>
        </p:txBody>
      </p:sp>
      <p:sp>
        <p:nvSpPr>
          <p:cNvPr id="23" name="Stat 5 label"/>
          <p:cNvSpPr txBox="1"/>
          <p:nvPr/>
        </p:nvSpPr>
        <p:spPr>
          <a:xfrm>
            <a:off x="7324344" y="2286000"/>
            <a:ext cx="1261872" cy="594360"/>
          </a:xfrm>
          <a:prstGeom prst="rect">
            <a:avLst/>
          </a:prstGeom>
          <a:noFill/>
          <a:ln/>
        </p:spPr>
        <p:txBody>
          <a:bodyPr wrap="square" lIns="0" tIns="0" rIns="0" bIns="0" rtlCol="0" anchor="t"/>
          <a:lstStyle/>
          <a:p>
            <a:pPr indent="0" marL="0">
              <a:buNone/>
            </a:pPr>
            <a:r>
              <a:rPr lang="en-US" sz="1300" dirty="0">
                <a:solidFill>
                  <a:schemeClr val="tx1"/>
                </a:solidFill>
              </a:rPr>
              <a:t>weeks on the client's timeline</a:t>
            </a:r>
            <a:endParaRPr lang="en-US" sz="1300" dirty="0"/>
          </a:p>
        </p:txBody>
      </p:sp>
      <p:sp>
        <p:nvSpPr>
          <p:cNvPr id="24" name="Client tile"/>
          <p:cNvSpPr/>
          <p:nvPr/>
        </p:nvSpPr>
        <p:spPr>
          <a:xfrm>
            <a:off x="457200" y="3291840"/>
            <a:ext cx="502920" cy="502920"/>
          </a:xfrm>
          <a:prstGeom prst="rect">
            <a:avLst/>
          </a:prstGeom>
          <a:solidFill>
            <a:schemeClr val="accent1"/>
          </a:solidFill>
          <a:ln/>
        </p:spPr>
      </p:sp>
      <p:pic>
        <p:nvPicPr>
          <p:cNvPr id="25" name="Client icon" descr="preencoded.png">    </p:cNvPr>
          <p:cNvPicPr>
            <a:picLocks noChangeAspect="1"/>
          </p:cNvPicPr>
          <p:nvPr/>
        </p:nvPicPr>
        <p:blipFill>
          <a:blip r:embed="rId1"/>
          <a:stretch>
            <a:fillRect/>
          </a:stretch>
        </p:blipFill>
        <p:spPr>
          <a:xfrm>
            <a:off x="567842" y="3402482"/>
            <a:ext cx="281635" cy="281635"/>
          </a:xfrm>
          <a:prstGeom prst="rect">
            <a:avLst/>
          </a:prstGeom>
        </p:spPr>
      </p:pic>
      <p:sp>
        <p:nvSpPr>
          <p:cNvPr id="26" name="Client summary"/>
          <p:cNvSpPr txBox="1"/>
          <p:nvPr/>
        </p:nvSpPr>
        <p:spPr>
          <a:xfrm>
            <a:off x="1143000" y="3273552"/>
            <a:ext cx="3200400" cy="1005840"/>
          </a:xfrm>
          <a:prstGeom prst="rect">
            <a:avLst/>
          </a:prstGeom>
          <a:noFill/>
          <a:ln/>
        </p:spPr>
        <p:txBody>
          <a:bodyPr wrap="square" lIns="0" tIns="0" rIns="0" bIns="0" rtlCol="0" anchor="t"/>
          <a:lstStyle/>
          <a:p>
            <a:pPr indent="0" marL="0">
              <a:buNone/>
            </a:pPr>
            <a:r>
              <a:rPr lang="en-US" sz="1400" b="1" dirty="0">
                <a:solidFill>
                  <a:schemeClr val="tx1"/>
                </a:solidFill>
              </a:rPr>
              <a:t>The client</a:t>
            </a:r>
            <a:endParaRPr lang="en-US" sz="1400" dirty="0"/>
          </a:p>
          <a:p>
            <a:pPr indent="0" marL="0">
              <a:buNone/>
            </a:pPr>
            <a:r>
              <a:rPr lang="en-US" sz="1400" dirty="0">
                <a:solidFill>
                  <a:schemeClr val="tx1"/>
                </a:solidFill>
              </a:rPr>
              <a:t>SNHU Travel wants to grow with niche vacation packages and asked for a working booking site in five weeks.</a:t>
            </a:r>
            <a:endParaRPr lang="en-US" sz="1400" dirty="0"/>
          </a:p>
        </p:txBody>
      </p:sp>
      <p:sp>
        <p:nvSpPr>
          <p:cNvPr id="27" name="Rotation tile"/>
          <p:cNvSpPr/>
          <p:nvPr/>
        </p:nvSpPr>
        <p:spPr>
          <a:xfrm>
            <a:off x="4663440" y="3291840"/>
            <a:ext cx="502920" cy="502920"/>
          </a:xfrm>
          <a:prstGeom prst="rect">
            <a:avLst/>
          </a:prstGeom>
          <a:solidFill>
            <a:schemeClr val="accent1"/>
          </a:solidFill>
          <a:ln/>
        </p:spPr>
      </p:sp>
      <p:pic>
        <p:nvPicPr>
          <p:cNvPr id="28" name="Rotation icon" descr="preencoded.png">    </p:cNvPr>
          <p:cNvPicPr>
            <a:picLocks noChangeAspect="1"/>
          </p:cNvPicPr>
          <p:nvPr/>
        </p:nvPicPr>
        <p:blipFill>
          <a:blip r:embed="rId2"/>
          <a:stretch>
            <a:fillRect/>
          </a:stretch>
        </p:blipFill>
        <p:spPr>
          <a:xfrm>
            <a:off x="4774082" y="3402482"/>
            <a:ext cx="281635" cy="281635"/>
          </a:xfrm>
          <a:prstGeom prst="rect">
            <a:avLst/>
          </a:prstGeom>
        </p:spPr>
      </p:pic>
      <p:sp>
        <p:nvSpPr>
          <p:cNvPr id="29" name="Role rotation summary"/>
          <p:cNvSpPr txBox="1"/>
          <p:nvPr/>
        </p:nvSpPr>
        <p:spPr>
          <a:xfrm>
            <a:off x="5349240" y="3273552"/>
            <a:ext cx="3337560" cy="1005840"/>
          </a:xfrm>
          <a:prstGeom prst="rect">
            <a:avLst/>
          </a:prstGeom>
          <a:noFill/>
          <a:ln/>
        </p:spPr>
        <p:txBody>
          <a:bodyPr wrap="square" lIns="0" tIns="0" rIns="0" bIns="0" rtlCol="0" anchor="t"/>
          <a:lstStyle/>
          <a:p>
            <a:pPr indent="0" marL="0">
              <a:buNone/>
            </a:pPr>
            <a:r>
              <a:rPr lang="en-US" sz="1400" b="1" dirty="0">
                <a:solidFill>
                  <a:schemeClr val="tx1"/>
                </a:solidFill>
              </a:rPr>
              <a:t>How I worked</a:t>
            </a:r>
            <a:endParaRPr lang="en-US" sz="1400" dirty="0"/>
          </a:p>
          <a:p>
            <a:pPr indent="0" marL="0">
              <a:buNone/>
            </a:pPr>
            <a:r>
              <a:rPr lang="en-US" sz="1400" dirty="0">
                <a:solidFill>
                  <a:schemeClr val="tx1"/>
                </a:solidFill>
              </a:rPr>
              <a:t>One role at a time: Product Owner, Developer, Tester, and now Scrum Master for this review.</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658368" y="292608"/>
            <a:ext cx="5486400" cy="274320"/>
          </a:xfrm>
          <a:prstGeom prst="rect">
            <a:avLst/>
          </a:prstGeom>
          <a:noFill/>
          <a:ln/>
        </p:spPr>
        <p:txBody>
          <a:bodyPr wrap="square" lIns="0" tIns="0" rIns="0" bIns="0" rtlCol="0" anchor="ctr"/>
          <a:lstStyle/>
          <a:p>
            <a:pPr algn="l" indent="0" marL="0">
              <a:buNone/>
            </a:pPr>
            <a:r>
              <a:rPr lang="en-US" sz="1100" b="1" spc="100" kern="0" dirty="0">
                <a:solidFill>
                  <a:schemeClr val="tx2"/>
                </a:solidFill>
              </a:rPr>
              <a:t>AGILE ROLES</a:t>
            </a:r>
            <a:endParaRPr lang="en-US" sz="1100" dirty="0"/>
          </a:p>
        </p:txBody>
      </p:sp>
      <p:sp>
        <p:nvSpPr>
          <p:cNvPr id="3" name="Text 1"/>
          <p:cNvSpPr/>
          <p:nvPr>
            <p:ph idx="102" type="title" hasCustomPrompt="1"/>
          </p:nvPr>
        </p:nvSpPr>
        <p:spPr>
          <a:xfrm>
            <a:off x="457200" y="566928"/>
            <a:ext cx="8229600" cy="548640"/>
          </a:xfrm>
          <a:prstGeom prst="rect">
            <a:avLst/>
          </a:prstGeom>
          <a:noFill/>
          <a:ln/>
        </p:spPr>
        <p:txBody>
          <a:bodyPr wrap="square" lIns="0" tIns="0" rIns="0" bIns="0" rtlCol="0" anchor="t"/>
          <a:lstStyle/>
          <a:p>
            <a:pPr algn="l" indent="0" marL="0">
              <a:buNone/>
            </a:pPr>
            <a:r>
              <a:rPr lang="en-US" sz="2800" b="1" dirty="0">
                <a:solidFill>
                  <a:schemeClr val="tx1"/>
                </a:solidFill>
              </a:rPr>
              <a:t>Four roles, one owner for each decision</a:t>
            </a:r>
            <a:endParaRPr lang="en-US" sz="2800" dirty="0"/>
          </a:p>
        </p:txBody>
      </p:sp>
      <p:sp>
        <p:nvSpPr>
          <p:cNvPr id="4" name="Product Owner card"/>
          <p:cNvSpPr/>
          <p:nvPr/>
        </p:nvSpPr>
        <p:spPr>
          <a:xfrm>
            <a:off x="457200" y="1261872"/>
            <a:ext cx="4023360" cy="1371600"/>
          </a:xfrm>
          <a:prstGeom prst="rect">
            <a:avLst/>
          </a:prstGeom>
          <a:solidFill>
            <a:schemeClr val="bg2"/>
          </a:solidFill>
          <a:ln/>
        </p:spPr>
      </p:sp>
      <p:sp>
        <p:nvSpPr>
          <p:cNvPr id="5" name="Product Owner tile"/>
          <p:cNvSpPr/>
          <p:nvPr/>
        </p:nvSpPr>
        <p:spPr>
          <a:xfrm>
            <a:off x="640080" y="1444752"/>
            <a:ext cx="548640" cy="548640"/>
          </a:xfrm>
          <a:prstGeom prst="rect">
            <a:avLst/>
          </a:prstGeom>
          <a:solidFill>
            <a:schemeClr val="accent1"/>
          </a:solidFill>
          <a:ln/>
        </p:spPr>
      </p:sp>
      <p:pic>
        <p:nvPicPr>
          <p:cNvPr id="6" name="Product Owner icon" descr="preencoded.png">    </p:cNvPr>
          <p:cNvPicPr>
            <a:picLocks noChangeAspect="1"/>
          </p:cNvPicPr>
          <p:nvPr/>
        </p:nvPicPr>
        <p:blipFill>
          <a:blip r:embed="rId1"/>
          <a:stretch>
            <a:fillRect/>
          </a:stretch>
        </p:blipFill>
        <p:spPr>
          <a:xfrm>
            <a:off x="760781" y="1565453"/>
            <a:ext cx="307238" cy="307238"/>
          </a:xfrm>
          <a:prstGeom prst="rect">
            <a:avLst/>
          </a:prstGeom>
        </p:spPr>
      </p:pic>
      <p:sp>
        <p:nvSpPr>
          <p:cNvPr id="7" name="Product Owner name"/>
          <p:cNvSpPr txBox="1"/>
          <p:nvPr/>
        </p:nvSpPr>
        <p:spPr>
          <a:xfrm>
            <a:off x="1353312" y="1408176"/>
            <a:ext cx="3017520"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Product Owner</a:t>
            </a:r>
            <a:endParaRPr lang="en-US" sz="1600" dirty="0"/>
          </a:p>
        </p:txBody>
      </p:sp>
      <p:sp>
        <p:nvSpPr>
          <p:cNvPr id="8" name="Product Owner description"/>
          <p:cNvSpPr txBox="1"/>
          <p:nvPr/>
        </p:nvSpPr>
        <p:spPr>
          <a:xfrm>
            <a:off x="1353312" y="1719072"/>
            <a:ext cx="3017520" cy="548640"/>
          </a:xfrm>
          <a:prstGeom prst="rect">
            <a:avLst/>
          </a:prstGeom>
          <a:noFill/>
          <a:ln/>
        </p:spPr>
        <p:txBody>
          <a:bodyPr wrap="square" lIns="0" tIns="0" rIns="0" bIns="0" rtlCol="0" anchor="t"/>
          <a:lstStyle/>
          <a:p>
            <a:pPr indent="0" marL="0">
              <a:buNone/>
            </a:pPr>
            <a:r>
              <a:rPr lang="en-US" sz="1400" dirty="0">
                <a:solidFill>
                  <a:schemeClr val="tx1"/>
                </a:solidFill>
              </a:rPr>
              <a:t>Owns the Product Backlog and decides what the team builds next.</a:t>
            </a:r>
            <a:endParaRPr lang="en-US" sz="1400" dirty="0"/>
          </a:p>
        </p:txBody>
      </p:sp>
      <p:sp>
        <p:nvSpPr>
          <p:cNvPr id="9" name="Product Owner pilot example"/>
          <p:cNvSpPr txBox="1"/>
          <p:nvPr/>
        </p:nvSpPr>
        <p:spPr>
          <a:xfrm>
            <a:off x="1353312" y="2286000"/>
            <a:ext cx="3063240" cy="256032"/>
          </a:xfrm>
          <a:prstGeom prst="rect">
            <a:avLst/>
          </a:prstGeom>
          <a:noFill/>
          <a:ln/>
        </p:spPr>
        <p:txBody>
          <a:bodyPr wrap="square" lIns="0" tIns="0" rIns="0" bIns="0" rtlCol="0" anchor="t"/>
          <a:lstStyle/>
          <a:p>
            <a:pPr indent="0" marL="0">
              <a:buNone/>
            </a:pPr>
            <a:r>
              <a:rPr lang="en-US" sz="1200" i="1" dirty="0">
                <a:solidFill>
                  <a:schemeClr val="tx2"/>
                </a:solidFill>
              </a:rPr>
              <a:t>Pilot: ranked six focus group stories</a:t>
            </a:r>
            <a:endParaRPr lang="en-US" sz="1200" dirty="0"/>
          </a:p>
        </p:txBody>
      </p:sp>
      <p:sp>
        <p:nvSpPr>
          <p:cNvPr id="10" name="Scrum Master card"/>
          <p:cNvSpPr/>
          <p:nvPr/>
        </p:nvSpPr>
        <p:spPr>
          <a:xfrm>
            <a:off x="4663440" y="1261872"/>
            <a:ext cx="4023360" cy="1371600"/>
          </a:xfrm>
          <a:prstGeom prst="rect">
            <a:avLst/>
          </a:prstGeom>
          <a:solidFill>
            <a:schemeClr val="bg2"/>
          </a:solidFill>
          <a:ln/>
        </p:spPr>
      </p:sp>
      <p:sp>
        <p:nvSpPr>
          <p:cNvPr id="11" name="Scrum Master tile"/>
          <p:cNvSpPr/>
          <p:nvPr/>
        </p:nvSpPr>
        <p:spPr>
          <a:xfrm>
            <a:off x="4846320" y="1444752"/>
            <a:ext cx="548640" cy="548640"/>
          </a:xfrm>
          <a:prstGeom prst="rect">
            <a:avLst/>
          </a:prstGeom>
          <a:solidFill>
            <a:schemeClr val="accent1"/>
          </a:solidFill>
          <a:ln/>
        </p:spPr>
      </p:sp>
      <p:pic>
        <p:nvPicPr>
          <p:cNvPr id="12" name="Scrum Master icon" descr="preencoded.png">    </p:cNvPr>
          <p:cNvPicPr>
            <a:picLocks noChangeAspect="1"/>
          </p:cNvPicPr>
          <p:nvPr/>
        </p:nvPicPr>
        <p:blipFill>
          <a:blip r:embed="rId2"/>
          <a:stretch>
            <a:fillRect/>
          </a:stretch>
        </p:blipFill>
        <p:spPr>
          <a:xfrm>
            <a:off x="4967021" y="1565453"/>
            <a:ext cx="307238" cy="307238"/>
          </a:xfrm>
          <a:prstGeom prst="rect">
            <a:avLst/>
          </a:prstGeom>
        </p:spPr>
      </p:pic>
      <p:sp>
        <p:nvSpPr>
          <p:cNvPr id="13" name="Scrum Master name"/>
          <p:cNvSpPr txBox="1"/>
          <p:nvPr/>
        </p:nvSpPr>
        <p:spPr>
          <a:xfrm>
            <a:off x="5559552" y="1408176"/>
            <a:ext cx="3017520"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Scrum Master</a:t>
            </a:r>
            <a:endParaRPr lang="en-US" sz="1600" dirty="0"/>
          </a:p>
        </p:txBody>
      </p:sp>
      <p:sp>
        <p:nvSpPr>
          <p:cNvPr id="14" name="Scrum Master description"/>
          <p:cNvSpPr txBox="1"/>
          <p:nvPr/>
        </p:nvSpPr>
        <p:spPr>
          <a:xfrm>
            <a:off x="5559552" y="1719072"/>
            <a:ext cx="3017520" cy="548640"/>
          </a:xfrm>
          <a:prstGeom prst="rect">
            <a:avLst/>
          </a:prstGeom>
          <a:noFill/>
          <a:ln/>
        </p:spPr>
        <p:txBody>
          <a:bodyPr wrap="square" lIns="0" tIns="0" rIns="0" bIns="0" rtlCol="0" anchor="t"/>
          <a:lstStyle/>
          <a:p>
            <a:pPr indent="0" marL="0">
              <a:buNone/>
            </a:pPr>
            <a:r>
              <a:rPr lang="en-US" sz="1400" dirty="0">
                <a:solidFill>
                  <a:schemeClr val="tx1"/>
                </a:solidFill>
              </a:rPr>
              <a:t>Runs the Scrum events, coaches the team, and clears impediments.</a:t>
            </a:r>
            <a:endParaRPr lang="en-US" sz="1400" dirty="0"/>
          </a:p>
        </p:txBody>
      </p:sp>
      <p:sp>
        <p:nvSpPr>
          <p:cNvPr id="15" name="Scrum Master pilot example"/>
          <p:cNvSpPr txBox="1"/>
          <p:nvPr/>
        </p:nvSpPr>
        <p:spPr>
          <a:xfrm>
            <a:off x="5559552" y="2286000"/>
            <a:ext cx="3063240" cy="256032"/>
          </a:xfrm>
          <a:prstGeom prst="rect">
            <a:avLst/>
          </a:prstGeom>
          <a:noFill/>
          <a:ln/>
        </p:spPr>
        <p:txBody>
          <a:bodyPr wrap="square" lIns="0" tIns="0" rIns="0" bIns="0" rtlCol="0" anchor="t"/>
          <a:lstStyle/>
          <a:p>
            <a:pPr indent="0" marL="0">
              <a:buNone/>
            </a:pPr>
            <a:r>
              <a:rPr lang="en-US" sz="1200" i="1" dirty="0">
                <a:solidFill>
                  <a:schemeClr val="tx2"/>
                </a:solidFill>
              </a:rPr>
              <a:t>Pilot: routed new work through Christy</a:t>
            </a:r>
            <a:endParaRPr lang="en-US" sz="1200" dirty="0"/>
          </a:p>
        </p:txBody>
      </p:sp>
      <p:sp>
        <p:nvSpPr>
          <p:cNvPr id="16" name="Developer card"/>
          <p:cNvSpPr/>
          <p:nvPr/>
        </p:nvSpPr>
        <p:spPr>
          <a:xfrm>
            <a:off x="457200" y="2743200"/>
            <a:ext cx="4023360" cy="1371600"/>
          </a:xfrm>
          <a:prstGeom prst="rect">
            <a:avLst/>
          </a:prstGeom>
          <a:solidFill>
            <a:schemeClr val="bg2"/>
          </a:solidFill>
          <a:ln/>
        </p:spPr>
      </p:sp>
      <p:sp>
        <p:nvSpPr>
          <p:cNvPr id="17" name="Developer tile"/>
          <p:cNvSpPr/>
          <p:nvPr/>
        </p:nvSpPr>
        <p:spPr>
          <a:xfrm>
            <a:off x="640080" y="2926080"/>
            <a:ext cx="548640" cy="548640"/>
          </a:xfrm>
          <a:prstGeom prst="rect">
            <a:avLst/>
          </a:prstGeom>
          <a:solidFill>
            <a:schemeClr val="accent1"/>
          </a:solidFill>
          <a:ln/>
        </p:spPr>
      </p:sp>
      <p:pic>
        <p:nvPicPr>
          <p:cNvPr id="18" name="Developer icon" descr="preencoded.png">    </p:cNvPr>
          <p:cNvPicPr>
            <a:picLocks noChangeAspect="1"/>
          </p:cNvPicPr>
          <p:nvPr/>
        </p:nvPicPr>
        <p:blipFill>
          <a:blip r:embed="rId3"/>
          <a:stretch>
            <a:fillRect/>
          </a:stretch>
        </p:blipFill>
        <p:spPr>
          <a:xfrm>
            <a:off x="760781" y="3046781"/>
            <a:ext cx="307238" cy="307238"/>
          </a:xfrm>
          <a:prstGeom prst="rect">
            <a:avLst/>
          </a:prstGeom>
        </p:spPr>
      </p:pic>
      <p:sp>
        <p:nvSpPr>
          <p:cNvPr id="19" name="Developer name"/>
          <p:cNvSpPr txBox="1"/>
          <p:nvPr/>
        </p:nvSpPr>
        <p:spPr>
          <a:xfrm>
            <a:off x="1353312" y="2889504"/>
            <a:ext cx="3017520"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Developer</a:t>
            </a:r>
            <a:endParaRPr lang="en-US" sz="1600" dirty="0"/>
          </a:p>
        </p:txBody>
      </p:sp>
      <p:sp>
        <p:nvSpPr>
          <p:cNvPr id="20" name="Developer description"/>
          <p:cNvSpPr txBox="1"/>
          <p:nvPr/>
        </p:nvSpPr>
        <p:spPr>
          <a:xfrm>
            <a:off x="1353312" y="3200400"/>
            <a:ext cx="3017520" cy="548640"/>
          </a:xfrm>
          <a:prstGeom prst="rect">
            <a:avLst/>
          </a:prstGeom>
          <a:noFill/>
          <a:ln/>
        </p:spPr>
        <p:txBody>
          <a:bodyPr wrap="square" lIns="0" tIns="0" rIns="0" bIns="0" rtlCol="0" anchor="t"/>
          <a:lstStyle/>
          <a:p>
            <a:pPr indent="0" marL="0">
              <a:buNone/>
            </a:pPr>
            <a:r>
              <a:rPr lang="en-US" sz="1400" dirty="0">
                <a:solidFill>
                  <a:schemeClr val="tx1"/>
                </a:solidFill>
              </a:rPr>
              <a:t>Builds a usable increment every Sprint and owns the Sprint Backlog.</a:t>
            </a:r>
            <a:endParaRPr lang="en-US" sz="1400" dirty="0"/>
          </a:p>
        </p:txBody>
      </p:sp>
      <p:sp>
        <p:nvSpPr>
          <p:cNvPr id="21" name="Developer pilot example"/>
          <p:cNvSpPr txBox="1"/>
          <p:nvPr/>
        </p:nvSpPr>
        <p:spPr>
          <a:xfrm>
            <a:off x="1353312" y="3767328"/>
            <a:ext cx="3063240" cy="256032"/>
          </a:xfrm>
          <a:prstGeom prst="rect">
            <a:avLst/>
          </a:prstGeom>
          <a:noFill/>
          <a:ln/>
        </p:spPr>
        <p:txBody>
          <a:bodyPr wrap="square" lIns="0" tIns="0" rIns="0" bIns="0" rtlCol="0" anchor="t"/>
          <a:lstStyle/>
          <a:p>
            <a:pPr indent="0" marL="0">
              <a:buNone/>
            </a:pPr>
            <a:r>
              <a:rPr lang="en-US" sz="1200" i="1" dirty="0">
                <a:solidFill>
                  <a:schemeClr val="tx2"/>
                </a:solidFill>
              </a:rPr>
              <a:t>Pilot: built the list and slide show</a:t>
            </a:r>
            <a:endParaRPr lang="en-US" sz="1200" dirty="0"/>
          </a:p>
        </p:txBody>
      </p:sp>
      <p:sp>
        <p:nvSpPr>
          <p:cNvPr id="22" name="Tester card"/>
          <p:cNvSpPr/>
          <p:nvPr/>
        </p:nvSpPr>
        <p:spPr>
          <a:xfrm>
            <a:off x="4663440" y="2743200"/>
            <a:ext cx="4023360" cy="1371600"/>
          </a:xfrm>
          <a:prstGeom prst="rect">
            <a:avLst/>
          </a:prstGeom>
          <a:solidFill>
            <a:schemeClr val="bg2"/>
          </a:solidFill>
          <a:ln/>
        </p:spPr>
      </p:sp>
      <p:sp>
        <p:nvSpPr>
          <p:cNvPr id="23" name="Tester tile"/>
          <p:cNvSpPr/>
          <p:nvPr/>
        </p:nvSpPr>
        <p:spPr>
          <a:xfrm>
            <a:off x="4846320" y="2926080"/>
            <a:ext cx="548640" cy="548640"/>
          </a:xfrm>
          <a:prstGeom prst="rect">
            <a:avLst/>
          </a:prstGeom>
          <a:solidFill>
            <a:schemeClr val="accent1"/>
          </a:solidFill>
          <a:ln/>
        </p:spPr>
      </p:sp>
      <p:pic>
        <p:nvPicPr>
          <p:cNvPr id="24" name="Tester icon" descr="preencoded.png">    </p:cNvPr>
          <p:cNvPicPr>
            <a:picLocks noChangeAspect="1"/>
          </p:cNvPicPr>
          <p:nvPr/>
        </p:nvPicPr>
        <p:blipFill>
          <a:blip r:embed="rId4"/>
          <a:stretch>
            <a:fillRect/>
          </a:stretch>
        </p:blipFill>
        <p:spPr>
          <a:xfrm>
            <a:off x="4967021" y="3046781"/>
            <a:ext cx="307238" cy="307238"/>
          </a:xfrm>
          <a:prstGeom prst="rect">
            <a:avLst/>
          </a:prstGeom>
        </p:spPr>
      </p:pic>
      <p:sp>
        <p:nvSpPr>
          <p:cNvPr id="25" name="Tester name"/>
          <p:cNvSpPr txBox="1"/>
          <p:nvPr/>
        </p:nvSpPr>
        <p:spPr>
          <a:xfrm>
            <a:off x="5559552" y="2889504"/>
            <a:ext cx="3017520"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Tester</a:t>
            </a:r>
            <a:endParaRPr lang="en-US" sz="1600" dirty="0"/>
          </a:p>
        </p:txBody>
      </p:sp>
      <p:sp>
        <p:nvSpPr>
          <p:cNvPr id="26" name="Tester description"/>
          <p:cNvSpPr txBox="1"/>
          <p:nvPr/>
        </p:nvSpPr>
        <p:spPr>
          <a:xfrm>
            <a:off x="5559552" y="3200400"/>
            <a:ext cx="3017520" cy="548640"/>
          </a:xfrm>
          <a:prstGeom prst="rect">
            <a:avLst/>
          </a:prstGeom>
          <a:noFill/>
          <a:ln/>
        </p:spPr>
        <p:txBody>
          <a:bodyPr wrap="square" lIns="0" tIns="0" rIns="0" bIns="0" rtlCol="0" anchor="t"/>
          <a:lstStyle/>
          <a:p>
            <a:pPr indent="0" marL="0">
              <a:buNone/>
            </a:pPr>
            <a:r>
              <a:rPr lang="en-US" sz="1400" dirty="0">
                <a:solidFill>
                  <a:schemeClr val="tx1"/>
                </a:solidFill>
              </a:rPr>
              <a:t>Turns acceptance criteria into pass and fail checks.</a:t>
            </a:r>
            <a:endParaRPr lang="en-US" sz="1400" dirty="0"/>
          </a:p>
        </p:txBody>
      </p:sp>
      <p:sp>
        <p:nvSpPr>
          <p:cNvPr id="27" name="Tester pilot example"/>
          <p:cNvSpPr txBox="1"/>
          <p:nvPr/>
        </p:nvSpPr>
        <p:spPr>
          <a:xfrm>
            <a:off x="5559552" y="3767328"/>
            <a:ext cx="3063240" cy="256032"/>
          </a:xfrm>
          <a:prstGeom prst="rect">
            <a:avLst/>
          </a:prstGeom>
          <a:noFill/>
          <a:ln/>
        </p:spPr>
        <p:txBody>
          <a:bodyPr wrap="square" lIns="0" tIns="0" rIns="0" bIns="0" rtlCol="0" anchor="t"/>
          <a:lstStyle/>
          <a:p>
            <a:pPr indent="0" marL="0">
              <a:buNone/>
            </a:pPr>
            <a:r>
              <a:rPr lang="en-US" sz="1200" i="1" dirty="0">
                <a:solidFill>
                  <a:schemeClr val="tx2"/>
                </a:solidFill>
              </a:rPr>
              <a:t>Pilot: revised tests for the wireframe</a:t>
            </a:r>
            <a:endParaRPr lang="en-US" sz="1200" dirty="0"/>
          </a:p>
        </p:txBody>
      </p:sp>
      <p:sp>
        <p:nvSpPr>
          <p:cNvPr id="28" name="Source caption"/>
          <p:cNvSpPr txBox="1"/>
          <p:nvPr/>
        </p:nvSpPr>
        <p:spPr>
          <a:xfrm>
            <a:off x="457200" y="4261104"/>
            <a:ext cx="8229600" cy="274320"/>
          </a:xfrm>
          <a:prstGeom prst="rect">
            <a:avLst/>
          </a:prstGeom>
          <a:noFill/>
          <a:ln/>
        </p:spPr>
        <p:txBody>
          <a:bodyPr wrap="square" lIns="0" tIns="0" rIns="0" bIns="0" rtlCol="0" anchor="t"/>
          <a:lstStyle/>
          <a:p>
            <a:pPr indent="0" marL="0">
              <a:buNone/>
            </a:pPr>
            <a:r>
              <a:rPr lang="en-US" sz="1100" i="1" dirty="0">
                <a:solidFill>
                  <a:schemeClr val="accent4"/>
                </a:solidFill>
              </a:rPr>
              <a:t>In Scrum, developers and testers together form the Developers. Stakeholders such as Amanda sit outside the team and shape the backlog at the Sprint Review (Coleman, 2024; Jocham et al., 2025). Clear roles keep the team close to those needs (Verwijs &amp; Russo, 2023).</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658368" y="292608"/>
            <a:ext cx="5486400" cy="274320"/>
          </a:xfrm>
          <a:prstGeom prst="rect">
            <a:avLst/>
          </a:prstGeom>
          <a:noFill/>
          <a:ln/>
        </p:spPr>
        <p:txBody>
          <a:bodyPr wrap="square" lIns="0" tIns="0" rIns="0" bIns="0" rtlCol="0" anchor="ctr"/>
          <a:lstStyle/>
          <a:p>
            <a:pPr algn="l" indent="0" marL="0">
              <a:buNone/>
            </a:pPr>
            <a:r>
              <a:rPr lang="en-US" sz="1100" b="1" spc="100" kern="0" dirty="0">
                <a:solidFill>
                  <a:schemeClr val="tx2"/>
                </a:solidFill>
              </a:rPr>
              <a:t>AGILE PHASES</a:t>
            </a:r>
            <a:endParaRPr lang="en-US" sz="1100" dirty="0"/>
          </a:p>
        </p:txBody>
      </p:sp>
      <p:sp>
        <p:nvSpPr>
          <p:cNvPr id="3" name="Text 1"/>
          <p:cNvSpPr/>
          <p:nvPr>
            <p:ph idx="102" type="title" hasCustomPrompt="1"/>
          </p:nvPr>
        </p:nvSpPr>
        <p:spPr>
          <a:xfrm>
            <a:off x="457200" y="566928"/>
            <a:ext cx="8229600" cy="548640"/>
          </a:xfrm>
          <a:prstGeom prst="rect">
            <a:avLst/>
          </a:prstGeom>
          <a:noFill/>
          <a:ln/>
        </p:spPr>
        <p:txBody>
          <a:bodyPr wrap="square" lIns="0" tIns="0" rIns="0" bIns="0" rtlCol="0" anchor="t"/>
          <a:lstStyle/>
          <a:p>
            <a:pPr algn="l" indent="0" marL="0">
              <a:buNone/>
            </a:pPr>
            <a:r>
              <a:rPr lang="en-US" sz="2800" b="1" dirty="0">
                <a:solidFill>
                  <a:schemeClr val="tx1"/>
                </a:solidFill>
              </a:rPr>
              <a:t>Agile repeats every SDLC phase each Sprint</a:t>
            </a:r>
            <a:endParaRPr lang="en-US" sz="2800" dirty="0"/>
          </a:p>
        </p:txBody>
      </p:sp>
      <p:sp>
        <p:nvSpPr>
          <p:cNvPr id="4" name="Sprint cycle ring"/>
          <p:cNvSpPr/>
          <p:nvPr/>
        </p:nvSpPr>
        <p:spPr>
          <a:xfrm>
            <a:off x="1033272" y="1737360"/>
            <a:ext cx="2231136" cy="2231136"/>
          </a:xfrm>
          <a:prstGeom prst="ellipse">
            <a:avLst/>
          </a:prstGeom>
          <a:ln w="38100">
            <a:solidFill>
              <a:schemeClr val="accent5"/>
            </a:solidFill>
            <a:prstDash val="solid"/>
          </a:ln>
        </p:spPr>
      </p:sp>
      <p:sp>
        <p:nvSpPr>
          <p:cNvPr id="5" name="Cycle label"/>
          <p:cNvSpPr txBox="1"/>
          <p:nvPr/>
        </p:nvSpPr>
        <p:spPr>
          <a:xfrm>
            <a:off x="1371600" y="2578608"/>
            <a:ext cx="1554480" cy="548640"/>
          </a:xfrm>
          <a:prstGeom prst="rect">
            <a:avLst/>
          </a:prstGeom>
          <a:noFill/>
          <a:ln/>
        </p:spPr>
        <p:txBody>
          <a:bodyPr wrap="square" lIns="0" tIns="0" rIns="0" bIns="0" rtlCol="0" anchor="ctr"/>
          <a:lstStyle/>
          <a:p>
            <a:pPr algn="ctr" indent="0" marL="0">
              <a:buNone/>
            </a:pPr>
            <a:r>
              <a:rPr lang="en-US" sz="1300" b="1" dirty="0">
                <a:solidFill>
                  <a:schemeClr val="tx2"/>
                </a:solidFill>
              </a:rPr>
              <a:t>One Sprint</a:t>
            </a:r>
            <a:endParaRPr lang="en-US" sz="1300" dirty="0"/>
          </a:p>
          <a:p>
            <a:pPr algn="ctr" indent="0" marL="0">
              <a:buNone/>
            </a:pPr>
            <a:r>
              <a:rPr lang="en-US" sz="1300" dirty="0">
                <a:solidFill>
                  <a:schemeClr val="tx2"/>
                </a:solidFill>
              </a:rPr>
              <a:t>repeated until done</a:t>
            </a:r>
            <a:endParaRPr lang="en-US" sz="1300" dirty="0"/>
          </a:p>
        </p:txBody>
      </p:sp>
      <p:sp>
        <p:nvSpPr>
          <p:cNvPr id="6" name="Phase 1 node"/>
          <p:cNvSpPr/>
          <p:nvPr/>
        </p:nvSpPr>
        <p:spPr>
          <a:xfrm>
            <a:off x="1865376" y="1453896"/>
            <a:ext cx="566928" cy="566928"/>
          </a:xfrm>
          <a:prstGeom prst="rect">
            <a:avLst/>
          </a:prstGeom>
          <a:solidFill>
            <a:schemeClr val="accent1"/>
          </a:solidFill>
          <a:ln w="25400">
            <a:solidFill>
              <a:schemeClr val="bg1"/>
            </a:solidFill>
            <a:prstDash val="solid"/>
          </a:ln>
        </p:spPr>
      </p:sp>
      <p:sp>
        <p:nvSpPr>
          <p:cNvPr id="7" name="Phase 1 number"/>
          <p:cNvSpPr txBox="1"/>
          <p:nvPr/>
        </p:nvSpPr>
        <p:spPr>
          <a:xfrm>
            <a:off x="1865376" y="1453896"/>
            <a:ext cx="566928" cy="566928"/>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1</a:t>
            </a:r>
            <a:endParaRPr lang="en-US" sz="1800" dirty="0"/>
          </a:p>
        </p:txBody>
      </p:sp>
      <p:sp>
        <p:nvSpPr>
          <p:cNvPr id="8" name="Phase 1 key"/>
          <p:cNvSpPr/>
          <p:nvPr/>
        </p:nvSpPr>
        <p:spPr>
          <a:xfrm>
            <a:off x="4160520" y="1408176"/>
            <a:ext cx="274320" cy="274320"/>
          </a:xfrm>
          <a:prstGeom prst="rect">
            <a:avLst/>
          </a:prstGeom>
          <a:solidFill>
            <a:schemeClr val="accent1"/>
          </a:solidFill>
          <a:ln/>
        </p:spPr>
      </p:sp>
      <p:sp>
        <p:nvSpPr>
          <p:cNvPr id="9" name="Phase 1 key number"/>
          <p:cNvSpPr txBox="1"/>
          <p:nvPr/>
        </p:nvSpPr>
        <p:spPr>
          <a:xfrm>
            <a:off x="4160520" y="1408176"/>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10" name="Phase 1 description"/>
          <p:cNvSpPr txBox="1"/>
          <p:nvPr/>
        </p:nvSpPr>
        <p:spPr>
          <a:xfrm>
            <a:off x="4617720" y="1298448"/>
            <a:ext cx="4069080" cy="493776"/>
          </a:xfrm>
          <a:prstGeom prst="rect">
            <a:avLst/>
          </a:prstGeom>
          <a:noFill/>
          <a:ln/>
        </p:spPr>
        <p:txBody>
          <a:bodyPr wrap="square" lIns="0" tIns="0" rIns="0" bIns="0" rtlCol="0" anchor="ctr"/>
          <a:lstStyle/>
          <a:p>
            <a:pPr indent="0" marL="0">
              <a:buNone/>
            </a:pPr>
            <a:r>
              <a:rPr lang="en-US" sz="1400" b="1" dirty="0">
                <a:solidFill>
                  <a:schemeClr val="tx1"/>
                </a:solidFill>
              </a:rPr>
              <a:t>Plan and analyze: </a:t>
            </a:r>
            <a:r>
              <a:rPr lang="en-US" sz="1400" dirty="0">
                <a:solidFill>
                  <a:schemeClr val="tx1"/>
                </a:solidFill>
              </a:rPr>
              <a:t>pick the highest-value stories and agree on a Sprint Goal.</a:t>
            </a:r>
            <a:endParaRPr lang="en-US" sz="1400" dirty="0"/>
          </a:p>
        </p:txBody>
      </p:sp>
      <p:sp>
        <p:nvSpPr>
          <p:cNvPr id="11" name="Phase 2 node"/>
          <p:cNvSpPr/>
          <p:nvPr/>
        </p:nvSpPr>
        <p:spPr>
          <a:xfrm>
            <a:off x="2831486" y="2011680"/>
            <a:ext cx="566928" cy="566928"/>
          </a:xfrm>
          <a:prstGeom prst="rect">
            <a:avLst/>
          </a:prstGeom>
          <a:solidFill>
            <a:schemeClr val="accent1"/>
          </a:solidFill>
          <a:ln w="25400">
            <a:solidFill>
              <a:schemeClr val="bg1"/>
            </a:solidFill>
            <a:prstDash val="solid"/>
          </a:ln>
        </p:spPr>
      </p:sp>
      <p:sp>
        <p:nvSpPr>
          <p:cNvPr id="12" name="Phase 2 number"/>
          <p:cNvSpPr txBox="1"/>
          <p:nvPr/>
        </p:nvSpPr>
        <p:spPr>
          <a:xfrm>
            <a:off x="2831486" y="2011680"/>
            <a:ext cx="566928" cy="566928"/>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2</a:t>
            </a:r>
            <a:endParaRPr lang="en-US" sz="1800" dirty="0"/>
          </a:p>
        </p:txBody>
      </p:sp>
      <p:sp>
        <p:nvSpPr>
          <p:cNvPr id="13" name="Phase 2 key"/>
          <p:cNvSpPr/>
          <p:nvPr/>
        </p:nvSpPr>
        <p:spPr>
          <a:xfrm>
            <a:off x="4160520" y="1938528"/>
            <a:ext cx="274320" cy="274320"/>
          </a:xfrm>
          <a:prstGeom prst="rect">
            <a:avLst/>
          </a:prstGeom>
          <a:solidFill>
            <a:schemeClr val="accent1"/>
          </a:solidFill>
          <a:ln/>
        </p:spPr>
      </p:sp>
      <p:sp>
        <p:nvSpPr>
          <p:cNvPr id="14" name="Phase 2 key number"/>
          <p:cNvSpPr txBox="1"/>
          <p:nvPr/>
        </p:nvSpPr>
        <p:spPr>
          <a:xfrm>
            <a:off x="4160520" y="1938528"/>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15" name="Phase 2 description"/>
          <p:cNvSpPr txBox="1"/>
          <p:nvPr/>
        </p:nvSpPr>
        <p:spPr>
          <a:xfrm>
            <a:off x="4617720" y="1828800"/>
            <a:ext cx="4069080" cy="493776"/>
          </a:xfrm>
          <a:prstGeom prst="rect">
            <a:avLst/>
          </a:prstGeom>
          <a:noFill/>
          <a:ln/>
        </p:spPr>
        <p:txBody>
          <a:bodyPr wrap="square" lIns="0" tIns="0" rIns="0" bIns="0" rtlCol="0" anchor="ctr"/>
          <a:lstStyle/>
          <a:p>
            <a:pPr indent="0" marL="0">
              <a:buNone/>
            </a:pPr>
            <a:r>
              <a:rPr lang="en-US" sz="1400" b="1" dirty="0">
                <a:solidFill>
                  <a:schemeClr val="tx1"/>
                </a:solidFill>
              </a:rPr>
              <a:t>Design: </a:t>
            </a:r>
            <a:r>
              <a:rPr lang="en-US" sz="1400" dirty="0">
                <a:solidFill>
                  <a:schemeClr val="tx1"/>
                </a:solidFill>
              </a:rPr>
              <a:t>sketch only what this Sprint needs, such as one wireframe.</a:t>
            </a:r>
            <a:endParaRPr lang="en-US" sz="1400" dirty="0"/>
          </a:p>
        </p:txBody>
      </p:sp>
      <p:sp>
        <p:nvSpPr>
          <p:cNvPr id="16" name="Phase 3 node"/>
          <p:cNvSpPr/>
          <p:nvPr/>
        </p:nvSpPr>
        <p:spPr>
          <a:xfrm>
            <a:off x="2831486" y="3127248"/>
            <a:ext cx="566928" cy="566928"/>
          </a:xfrm>
          <a:prstGeom prst="rect">
            <a:avLst/>
          </a:prstGeom>
          <a:solidFill>
            <a:schemeClr val="accent1"/>
          </a:solidFill>
          <a:ln w="25400">
            <a:solidFill>
              <a:schemeClr val="bg1"/>
            </a:solidFill>
            <a:prstDash val="solid"/>
          </a:ln>
        </p:spPr>
      </p:sp>
      <p:sp>
        <p:nvSpPr>
          <p:cNvPr id="17" name="Phase 3 number"/>
          <p:cNvSpPr txBox="1"/>
          <p:nvPr/>
        </p:nvSpPr>
        <p:spPr>
          <a:xfrm>
            <a:off x="2831486" y="3127248"/>
            <a:ext cx="566928" cy="566928"/>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3</a:t>
            </a:r>
            <a:endParaRPr lang="en-US" sz="1800" dirty="0"/>
          </a:p>
        </p:txBody>
      </p:sp>
      <p:sp>
        <p:nvSpPr>
          <p:cNvPr id="18" name="Phase 3 key"/>
          <p:cNvSpPr/>
          <p:nvPr/>
        </p:nvSpPr>
        <p:spPr>
          <a:xfrm>
            <a:off x="4160520" y="2468880"/>
            <a:ext cx="274320" cy="274320"/>
          </a:xfrm>
          <a:prstGeom prst="rect">
            <a:avLst/>
          </a:prstGeom>
          <a:solidFill>
            <a:schemeClr val="accent1"/>
          </a:solidFill>
          <a:ln/>
        </p:spPr>
      </p:sp>
      <p:sp>
        <p:nvSpPr>
          <p:cNvPr id="19" name="Phase 3 key number"/>
          <p:cNvSpPr txBox="1"/>
          <p:nvPr/>
        </p:nvSpPr>
        <p:spPr>
          <a:xfrm>
            <a:off x="4160520" y="2468880"/>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20" name="Phase 3 description"/>
          <p:cNvSpPr txBox="1"/>
          <p:nvPr/>
        </p:nvSpPr>
        <p:spPr>
          <a:xfrm>
            <a:off x="4617720" y="2359152"/>
            <a:ext cx="4069080" cy="493776"/>
          </a:xfrm>
          <a:prstGeom prst="rect">
            <a:avLst/>
          </a:prstGeom>
          <a:noFill/>
          <a:ln/>
        </p:spPr>
        <p:txBody>
          <a:bodyPr wrap="square" lIns="0" tIns="0" rIns="0" bIns="0" rtlCol="0" anchor="ctr"/>
          <a:lstStyle/>
          <a:p>
            <a:pPr indent="0" marL="0">
              <a:buNone/>
            </a:pPr>
            <a:r>
              <a:rPr lang="en-US" sz="1400" b="1" dirty="0">
                <a:solidFill>
                  <a:schemeClr val="tx1"/>
                </a:solidFill>
              </a:rPr>
              <a:t>Code: </a:t>
            </a:r>
            <a:r>
              <a:rPr lang="en-US" sz="1400" dirty="0">
                <a:solidFill>
                  <a:schemeClr val="tx1"/>
                </a:solidFill>
              </a:rPr>
              <a:t>build a small piece of working software.</a:t>
            </a:r>
            <a:endParaRPr lang="en-US" sz="1400" dirty="0"/>
          </a:p>
        </p:txBody>
      </p:sp>
      <p:sp>
        <p:nvSpPr>
          <p:cNvPr id="21" name="Phase 4 node"/>
          <p:cNvSpPr/>
          <p:nvPr/>
        </p:nvSpPr>
        <p:spPr>
          <a:xfrm>
            <a:off x="1865376" y="3685032"/>
            <a:ext cx="566928" cy="566928"/>
          </a:xfrm>
          <a:prstGeom prst="rect">
            <a:avLst/>
          </a:prstGeom>
          <a:solidFill>
            <a:schemeClr val="accent1"/>
          </a:solidFill>
          <a:ln w="25400">
            <a:solidFill>
              <a:schemeClr val="bg1"/>
            </a:solidFill>
            <a:prstDash val="solid"/>
          </a:ln>
        </p:spPr>
      </p:sp>
      <p:sp>
        <p:nvSpPr>
          <p:cNvPr id="22" name="Phase 4 number"/>
          <p:cNvSpPr txBox="1"/>
          <p:nvPr/>
        </p:nvSpPr>
        <p:spPr>
          <a:xfrm>
            <a:off x="1865376" y="3685032"/>
            <a:ext cx="566928" cy="566928"/>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4</a:t>
            </a:r>
            <a:endParaRPr lang="en-US" sz="1800" dirty="0"/>
          </a:p>
        </p:txBody>
      </p:sp>
      <p:sp>
        <p:nvSpPr>
          <p:cNvPr id="23" name="Phase 4 key"/>
          <p:cNvSpPr/>
          <p:nvPr/>
        </p:nvSpPr>
        <p:spPr>
          <a:xfrm>
            <a:off x="4160520" y="2999232"/>
            <a:ext cx="274320" cy="274320"/>
          </a:xfrm>
          <a:prstGeom prst="rect">
            <a:avLst/>
          </a:prstGeom>
          <a:solidFill>
            <a:schemeClr val="accent1"/>
          </a:solidFill>
          <a:ln/>
        </p:spPr>
      </p:sp>
      <p:sp>
        <p:nvSpPr>
          <p:cNvPr id="24" name="Phase 4 key number"/>
          <p:cNvSpPr txBox="1"/>
          <p:nvPr/>
        </p:nvSpPr>
        <p:spPr>
          <a:xfrm>
            <a:off x="4160520" y="2999232"/>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25" name="Phase 4 description"/>
          <p:cNvSpPr txBox="1"/>
          <p:nvPr/>
        </p:nvSpPr>
        <p:spPr>
          <a:xfrm>
            <a:off x="4617720" y="2889504"/>
            <a:ext cx="4069080" cy="493776"/>
          </a:xfrm>
          <a:prstGeom prst="rect">
            <a:avLst/>
          </a:prstGeom>
          <a:noFill/>
          <a:ln/>
        </p:spPr>
        <p:txBody>
          <a:bodyPr wrap="square" lIns="0" tIns="0" rIns="0" bIns="0" rtlCol="0" anchor="ctr"/>
          <a:lstStyle/>
          <a:p>
            <a:pPr indent="0" marL="0">
              <a:buNone/>
            </a:pPr>
            <a:r>
              <a:rPr lang="en-US" sz="1400" b="1" dirty="0">
                <a:solidFill>
                  <a:schemeClr val="tx1"/>
                </a:solidFill>
              </a:rPr>
              <a:t>Test: </a:t>
            </a:r>
            <a:r>
              <a:rPr lang="en-US" sz="1400" dirty="0">
                <a:solidFill>
                  <a:schemeClr val="tx1"/>
                </a:solidFill>
              </a:rPr>
              <a:t>check each acceptance criterion inside the Sprint, not after it.</a:t>
            </a:r>
            <a:endParaRPr lang="en-US" sz="1400" dirty="0"/>
          </a:p>
        </p:txBody>
      </p:sp>
      <p:sp>
        <p:nvSpPr>
          <p:cNvPr id="26" name="Phase 5 node"/>
          <p:cNvSpPr/>
          <p:nvPr/>
        </p:nvSpPr>
        <p:spPr>
          <a:xfrm>
            <a:off x="899266" y="3127248"/>
            <a:ext cx="566928" cy="566928"/>
          </a:xfrm>
          <a:prstGeom prst="rect">
            <a:avLst/>
          </a:prstGeom>
          <a:solidFill>
            <a:schemeClr val="accent1"/>
          </a:solidFill>
          <a:ln w="25400">
            <a:solidFill>
              <a:schemeClr val="bg1"/>
            </a:solidFill>
            <a:prstDash val="solid"/>
          </a:ln>
        </p:spPr>
      </p:sp>
      <p:sp>
        <p:nvSpPr>
          <p:cNvPr id="27" name="Phase 5 number"/>
          <p:cNvSpPr txBox="1"/>
          <p:nvPr/>
        </p:nvSpPr>
        <p:spPr>
          <a:xfrm>
            <a:off x="899266" y="3127248"/>
            <a:ext cx="566928" cy="566928"/>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5</a:t>
            </a:r>
            <a:endParaRPr lang="en-US" sz="1800" dirty="0"/>
          </a:p>
        </p:txBody>
      </p:sp>
      <p:sp>
        <p:nvSpPr>
          <p:cNvPr id="28" name="Phase 5 key"/>
          <p:cNvSpPr/>
          <p:nvPr/>
        </p:nvSpPr>
        <p:spPr>
          <a:xfrm>
            <a:off x="4160520" y="3529584"/>
            <a:ext cx="274320" cy="274320"/>
          </a:xfrm>
          <a:prstGeom prst="rect">
            <a:avLst/>
          </a:prstGeom>
          <a:solidFill>
            <a:schemeClr val="accent1"/>
          </a:solidFill>
          <a:ln/>
        </p:spPr>
      </p:sp>
      <p:sp>
        <p:nvSpPr>
          <p:cNvPr id="29" name="Phase 5 key number"/>
          <p:cNvSpPr txBox="1"/>
          <p:nvPr/>
        </p:nvSpPr>
        <p:spPr>
          <a:xfrm>
            <a:off x="4160520" y="3529584"/>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5</a:t>
            </a:r>
            <a:endParaRPr lang="en-US" sz="1100" dirty="0"/>
          </a:p>
        </p:txBody>
      </p:sp>
      <p:sp>
        <p:nvSpPr>
          <p:cNvPr id="30" name="Phase 5 description"/>
          <p:cNvSpPr txBox="1"/>
          <p:nvPr/>
        </p:nvSpPr>
        <p:spPr>
          <a:xfrm>
            <a:off x="4617720" y="3419856"/>
            <a:ext cx="4069080" cy="493776"/>
          </a:xfrm>
          <a:prstGeom prst="rect">
            <a:avLst/>
          </a:prstGeom>
          <a:noFill/>
          <a:ln/>
        </p:spPr>
        <p:txBody>
          <a:bodyPr wrap="square" lIns="0" tIns="0" rIns="0" bIns="0" rtlCol="0" anchor="ctr"/>
          <a:lstStyle/>
          <a:p>
            <a:pPr indent="0" marL="0">
              <a:buNone/>
            </a:pPr>
            <a:r>
              <a:rPr lang="en-US" sz="1400" b="1" dirty="0">
                <a:solidFill>
                  <a:schemeClr val="tx1"/>
                </a:solidFill>
              </a:rPr>
              <a:t>Deploy: </a:t>
            </a:r>
            <a:r>
              <a:rPr lang="en-US" sz="1400" dirty="0">
                <a:solidFill>
                  <a:schemeClr val="tx1"/>
                </a:solidFill>
              </a:rPr>
              <a:t>deliver a usable increment the client can try.</a:t>
            </a:r>
            <a:endParaRPr lang="en-US" sz="1400" dirty="0"/>
          </a:p>
        </p:txBody>
      </p:sp>
      <p:sp>
        <p:nvSpPr>
          <p:cNvPr id="31" name="Phase 6 node"/>
          <p:cNvSpPr/>
          <p:nvPr/>
        </p:nvSpPr>
        <p:spPr>
          <a:xfrm>
            <a:off x="899266" y="2011680"/>
            <a:ext cx="566928" cy="566928"/>
          </a:xfrm>
          <a:prstGeom prst="rect">
            <a:avLst/>
          </a:prstGeom>
          <a:solidFill>
            <a:schemeClr val="accent1"/>
          </a:solidFill>
          <a:ln w="25400">
            <a:solidFill>
              <a:schemeClr val="bg1"/>
            </a:solidFill>
            <a:prstDash val="solid"/>
          </a:ln>
        </p:spPr>
      </p:sp>
      <p:sp>
        <p:nvSpPr>
          <p:cNvPr id="32" name="Phase 6 number"/>
          <p:cNvSpPr txBox="1"/>
          <p:nvPr/>
        </p:nvSpPr>
        <p:spPr>
          <a:xfrm>
            <a:off x="899266" y="2011680"/>
            <a:ext cx="566928" cy="566928"/>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6</a:t>
            </a:r>
            <a:endParaRPr lang="en-US" sz="1800" dirty="0"/>
          </a:p>
        </p:txBody>
      </p:sp>
      <p:sp>
        <p:nvSpPr>
          <p:cNvPr id="33" name="Phase 6 key"/>
          <p:cNvSpPr/>
          <p:nvPr/>
        </p:nvSpPr>
        <p:spPr>
          <a:xfrm>
            <a:off x="4160520" y="4059936"/>
            <a:ext cx="274320" cy="274320"/>
          </a:xfrm>
          <a:prstGeom prst="rect">
            <a:avLst/>
          </a:prstGeom>
          <a:solidFill>
            <a:schemeClr val="accent1"/>
          </a:solidFill>
          <a:ln/>
        </p:spPr>
      </p:sp>
      <p:sp>
        <p:nvSpPr>
          <p:cNvPr id="34" name="Phase 6 key number"/>
          <p:cNvSpPr txBox="1"/>
          <p:nvPr/>
        </p:nvSpPr>
        <p:spPr>
          <a:xfrm>
            <a:off x="4160520" y="4059936"/>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6</a:t>
            </a:r>
            <a:endParaRPr lang="en-US" sz="1100" dirty="0"/>
          </a:p>
        </p:txBody>
      </p:sp>
      <p:sp>
        <p:nvSpPr>
          <p:cNvPr id="35" name="Phase 6 description"/>
          <p:cNvSpPr txBox="1"/>
          <p:nvPr/>
        </p:nvSpPr>
        <p:spPr>
          <a:xfrm>
            <a:off x="4617720" y="3950208"/>
            <a:ext cx="4069080" cy="493776"/>
          </a:xfrm>
          <a:prstGeom prst="rect">
            <a:avLst/>
          </a:prstGeom>
          <a:noFill/>
          <a:ln/>
        </p:spPr>
        <p:txBody>
          <a:bodyPr wrap="square" lIns="0" tIns="0" rIns="0" bIns="0" rtlCol="0" anchor="ctr"/>
          <a:lstStyle/>
          <a:p>
            <a:pPr indent="0" marL="0">
              <a:buNone/>
            </a:pPr>
            <a:r>
              <a:rPr lang="en-US" sz="1400" b="1" dirty="0">
                <a:solidFill>
                  <a:schemeClr val="tx1"/>
                </a:solidFill>
              </a:rPr>
              <a:t>Review and maintain: </a:t>
            </a:r>
            <a:r>
              <a:rPr lang="en-US" sz="1400" dirty="0">
                <a:solidFill>
                  <a:schemeClr val="tx1"/>
                </a:solidFill>
              </a:rPr>
              <a:t>feedback and the Retrospective shape the next Sprint.</a:t>
            </a:r>
            <a:endParaRPr lang="en-US" sz="1400" dirty="0"/>
          </a:p>
        </p:txBody>
      </p:sp>
      <p:sp>
        <p:nvSpPr>
          <p:cNvPr id="36" name="Source caption"/>
          <p:cNvSpPr txBox="1"/>
          <p:nvPr/>
        </p:nvSpPr>
        <p:spPr>
          <a:xfrm>
            <a:off x="457200" y="4407408"/>
            <a:ext cx="8229600" cy="274320"/>
          </a:xfrm>
          <a:prstGeom prst="rect">
            <a:avLst/>
          </a:prstGeom>
          <a:noFill/>
          <a:ln/>
        </p:spPr>
        <p:txBody>
          <a:bodyPr wrap="square" lIns="0" tIns="0" rIns="0" bIns="0" rtlCol="0" anchor="t"/>
          <a:lstStyle/>
          <a:p>
            <a:pPr indent="0" marL="0">
              <a:buNone/>
            </a:pPr>
            <a:r>
              <a:rPr lang="en-US" sz="1100" i="1" dirty="0">
                <a:solidFill>
                  <a:schemeClr val="accent4"/>
                </a:solidFill>
              </a:rPr>
              <a:t>Phase names follow Jackson et al. (2025).</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658368" y="292608"/>
            <a:ext cx="5486400" cy="274320"/>
          </a:xfrm>
          <a:prstGeom prst="rect">
            <a:avLst/>
          </a:prstGeom>
          <a:noFill/>
          <a:ln/>
        </p:spPr>
        <p:txBody>
          <a:bodyPr wrap="square" lIns="0" tIns="0" rIns="0" bIns="0" rtlCol="0" anchor="ctr"/>
          <a:lstStyle/>
          <a:p>
            <a:pPr algn="l" indent="0" marL="0">
              <a:buNone/>
            </a:pPr>
            <a:r>
              <a:rPr lang="en-US" sz="1100" b="1" spc="100" kern="0" dirty="0">
                <a:solidFill>
                  <a:schemeClr val="tx2"/>
                </a:solidFill>
              </a:rPr>
              <a:t>AGILE PHASES</a:t>
            </a:r>
            <a:endParaRPr lang="en-US" sz="1100" dirty="0"/>
          </a:p>
        </p:txBody>
      </p:sp>
      <p:sp>
        <p:nvSpPr>
          <p:cNvPr id="3" name="Text 1"/>
          <p:cNvSpPr/>
          <p:nvPr>
            <p:ph idx="102" type="title" hasCustomPrompt="1"/>
          </p:nvPr>
        </p:nvSpPr>
        <p:spPr>
          <a:xfrm>
            <a:off x="457200" y="566928"/>
            <a:ext cx="8229600" cy="548640"/>
          </a:xfrm>
          <a:prstGeom prst="rect">
            <a:avLst/>
          </a:prstGeom>
          <a:noFill/>
          <a:ln/>
        </p:spPr>
        <p:txBody>
          <a:bodyPr wrap="square" lIns="0" tIns="0" rIns="0" bIns="0" rtlCol="0" anchor="t"/>
          <a:lstStyle/>
          <a:p>
            <a:pPr algn="l" indent="0" marL="0">
              <a:buNone/>
            </a:pPr>
            <a:r>
              <a:rPr lang="en-US" sz="2800" b="1" dirty="0">
                <a:solidFill>
                  <a:schemeClr val="tx1"/>
                </a:solidFill>
              </a:rPr>
              <a:t>How the phases ran on SNHU Travel</a:t>
            </a:r>
            <a:endParaRPr lang="en-US" sz="2800" dirty="0"/>
          </a:p>
        </p:txBody>
      </p:sp>
      <p:graphicFrame>
        <p:nvGraphicFramePr>
          <p:cNvPr id="6" name="Phase mapping table"/>
          <p:cNvGraphicFramePr>
            <a:graphicFrameLocks noGrp="1"/>
          </p:cNvGraphicFramePr>
          <p:nvPr>
            <p:extLst>
              <p:ext uri="{D42A27DB-BD31-4B8C-83A1-F6EECF244321}">
                <p14:modId xmlns:p14="http://schemas.microsoft.com/office/powerpoint/2010/main" val="1579011935"/>
              </p:ext>
            </p:extLst>
          </p:nvPr>
        </p:nvGraphicFramePr>
        <p:xfrm>
          <a:off x="457200" y="1261872"/>
          <a:ext cx="8229600" cy="914400"/>
        </p:xfrm>
        <a:graphic>
          <a:graphicData uri="http://schemas.openxmlformats.org/drawingml/2006/table">
            <a:tbl>
              <a:tblPr/>
              <a:tblGrid>
                <a:gridCol w="1600200"/>
                <a:gridCol w="4114800"/>
                <a:gridCol w="2514600"/>
              </a:tblGrid>
              <a:tr h="402336">
                <a:tc>
                  <a:txBody>
                    <a:bodyPr/>
                    <a:lstStyle/>
                    <a:p>
                      <a:pPr indent="0" marL="0">
                        <a:buNone/>
                      </a:pPr>
                      <a:r>
                        <a:rPr lang="en-US" sz="1200" b="1" dirty="0">
                          <a:solidFill>
                            <a:schemeClr val="bg1"/>
                          </a:solidFill>
                        </a:rPr>
                        <a:t>Phase</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we did on SNHU Travel</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Where it happens in Scrum</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tx2"/>
                    </a:solidFill>
                  </a:tcPr>
                </a:tc>
              </a:tr>
              <a:tr h="402336">
                <a:tc>
                  <a:txBody>
                    <a:bodyPr/>
                    <a:lstStyle/>
                    <a:p>
                      <a:pPr indent="0" marL="0">
                        <a:buNone/>
                      </a:pPr>
                      <a:r>
                        <a:rPr lang="en-US" sz="1200" b="1" dirty="0">
                          <a:solidFill>
                            <a:schemeClr val="tx1"/>
                          </a:solidFill>
                        </a:rPr>
                        <a:t>Plan and analyze</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Turned the focus group into six ranked, sized user stories</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Backlog refinement, Sprint Planning</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bg2"/>
                    </a:solidFill>
                  </a:tcPr>
                </a:tc>
              </a:tr>
              <a:tr h="402336">
                <a:tc>
                  <a:txBody>
                    <a:bodyPr/>
                    <a:lstStyle/>
                    <a:p>
                      <a:pPr indent="0" marL="0">
                        <a:buNone/>
                      </a:pPr>
                      <a:r>
                        <a:rPr lang="en-US" sz="1200" b="1" dirty="0">
                          <a:solidFill>
                            <a:schemeClr val="tx1"/>
                          </a:solidFill>
                        </a:rPr>
                        <a:t>Design</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Christy shared a wireframe with one destination per slide</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Sprint Planning</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bg1"/>
                    </a:solidFill>
                  </a:tcPr>
                </a:tc>
              </a:tr>
              <a:tr h="402336">
                <a:tc>
                  <a:txBody>
                    <a:bodyPr/>
                    <a:lstStyle/>
                    <a:p>
                      <a:pPr indent="0" marL="0">
                        <a:buNone/>
                      </a:pPr>
                      <a:r>
                        <a:rPr lang="en-US" sz="1200" b="1" dirty="0">
                          <a:solidFill>
                            <a:schemeClr val="tx1"/>
                          </a:solidFill>
                        </a:rPr>
                        <a:t>Code</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Built the Top Five list, then the wellness slide show</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The Sprint, Daily Scrum</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bg2"/>
                    </a:solidFill>
                  </a:tcPr>
                </a:tc>
              </a:tr>
              <a:tr h="402336">
                <a:tc>
                  <a:txBody>
                    <a:bodyPr/>
                    <a:lstStyle/>
                    <a:p>
                      <a:pPr indent="0" marL="0">
                        <a:buNone/>
                      </a:pPr>
                      <a:r>
                        <a:rPr lang="en-US" sz="1200" b="1" dirty="0">
                          <a:solidFill>
                            <a:schemeClr val="tx1"/>
                          </a:solidFill>
                        </a:rPr>
                        <a:t>Test</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Wrote three test cases, then revised all three for the wireframe</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The Sprint, Daily Scrum</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bg1"/>
                    </a:solidFill>
                  </a:tcPr>
                </a:tc>
              </a:tr>
              <a:tr h="402336">
                <a:tc>
                  <a:txBody>
                    <a:bodyPr/>
                    <a:lstStyle/>
                    <a:p>
                      <a:pPr indent="0" marL="0">
                        <a:buNone/>
                      </a:pPr>
                      <a:r>
                        <a:rPr lang="en-US" sz="1200" b="1" dirty="0">
                          <a:solidFill>
                            <a:schemeClr val="tx1"/>
                          </a:solidFill>
                        </a:rPr>
                        <a:t>Deploy</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Exported a runnable JAR so the Tester ran the same build</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End of the Sprint</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bg2"/>
                    </a:solidFill>
                  </a:tcPr>
                </a:tc>
              </a:tr>
              <a:tr h="402336">
                <a:tc>
                  <a:txBody>
                    <a:bodyPr/>
                    <a:lstStyle/>
                    <a:p>
                      <a:pPr indent="0" marL="0">
                        <a:buNone/>
                      </a:pPr>
                      <a:r>
                        <a:rPr lang="en-US" sz="1200" b="1" dirty="0">
                          <a:solidFill>
                            <a:schemeClr val="tx1"/>
                          </a:solidFill>
                        </a:rPr>
                        <a:t>Review and maintain</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Demo the increment to Amanda; agree on one improvement</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Sprint Review, Sprint Retrospective</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bg1"/>
                    </a:solidFill>
                  </a:tcPr>
                </a:tc>
              </a:tr>
            </a:tbl>
          </a:graphicData>
        </a:graphic>
      </p:graphicFrame>
      <p:sp>
        <p:nvSpPr>
          <p:cNvPr id="5" name="Takeaway"/>
          <p:cNvSpPr txBox="1"/>
          <p:nvPr/>
        </p:nvSpPr>
        <p:spPr>
          <a:xfrm>
            <a:off x="457200" y="4370832"/>
            <a:ext cx="8229600" cy="292608"/>
          </a:xfrm>
          <a:prstGeom prst="rect">
            <a:avLst/>
          </a:prstGeom>
          <a:noFill/>
          <a:ln/>
        </p:spPr>
        <p:txBody>
          <a:bodyPr wrap="square" lIns="0" tIns="0" rIns="0" bIns="0" rtlCol="0" anchor="t"/>
          <a:lstStyle/>
          <a:p>
            <a:pPr indent="0" marL="0">
              <a:buNone/>
            </a:pPr>
            <a:r>
              <a:rPr lang="en-US" sz="1400" i="1" dirty="0">
                <a:solidFill>
                  <a:schemeClr val="tx2"/>
                </a:solidFill>
              </a:rPr>
              <a:t>Every phase showed up in every Sprint, just at a smaller size.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658368" y="292608"/>
            <a:ext cx="5486400" cy="274320"/>
          </a:xfrm>
          <a:prstGeom prst="rect">
            <a:avLst/>
          </a:prstGeom>
          <a:noFill/>
          <a:ln/>
        </p:spPr>
        <p:txBody>
          <a:bodyPr wrap="square" lIns="0" tIns="0" rIns="0" bIns="0" rtlCol="0" anchor="ctr"/>
          <a:lstStyle/>
          <a:p>
            <a:pPr algn="l" indent="0" marL="0">
              <a:buNone/>
            </a:pPr>
            <a:r>
              <a:rPr lang="en-US" sz="1100" b="1" spc="100" kern="0" dirty="0">
                <a:solidFill>
                  <a:schemeClr val="tx2"/>
                </a:solidFill>
              </a:rPr>
              <a:t>WATERFALL MODEL</a:t>
            </a:r>
            <a:endParaRPr lang="en-US" sz="1100" dirty="0"/>
          </a:p>
        </p:txBody>
      </p:sp>
      <p:sp>
        <p:nvSpPr>
          <p:cNvPr id="3" name="Text 1"/>
          <p:cNvSpPr/>
          <p:nvPr>
            <p:ph idx="102" type="title" hasCustomPrompt="1"/>
          </p:nvPr>
        </p:nvSpPr>
        <p:spPr>
          <a:xfrm>
            <a:off x="457200" y="566928"/>
            <a:ext cx="8229600" cy="548640"/>
          </a:xfrm>
          <a:prstGeom prst="rect">
            <a:avLst/>
          </a:prstGeom>
          <a:noFill/>
          <a:ln/>
        </p:spPr>
        <p:txBody>
          <a:bodyPr wrap="square" lIns="0" tIns="0" rIns="0" bIns="0" rtlCol="0" anchor="t"/>
          <a:lstStyle/>
          <a:p>
            <a:pPr algn="l" indent="0" marL="0">
              <a:buNone/>
            </a:pPr>
            <a:r>
              <a:rPr lang="en-US" sz="2800" b="1" dirty="0">
                <a:solidFill>
                  <a:schemeClr val="tx1"/>
                </a:solidFill>
              </a:rPr>
              <a:t>Waterfall runs each phase once, in order</a:t>
            </a:r>
            <a:endParaRPr lang="en-US" sz="2800" dirty="0"/>
          </a:p>
        </p:txBody>
      </p:sp>
      <p:sp>
        <p:nvSpPr>
          <p:cNvPr id="4" name="Waterfall step 1"/>
          <p:cNvSpPr/>
          <p:nvPr/>
        </p:nvSpPr>
        <p:spPr>
          <a:xfrm>
            <a:off x="457200" y="1298448"/>
            <a:ext cx="1691640" cy="347472"/>
          </a:xfrm>
          <a:prstGeom prst="rect">
            <a:avLst/>
          </a:prstGeom>
          <a:solidFill>
            <a:schemeClr val="accent1"/>
          </a:solidFill>
          <a:ln w="12700">
            <a:solidFill>
              <a:schemeClr val="accent1"/>
            </a:solidFill>
            <a:prstDash val="solid"/>
          </a:ln>
        </p:spPr>
      </p:sp>
      <p:sp>
        <p:nvSpPr>
          <p:cNvPr id="5" name="Waterfall step 1 label"/>
          <p:cNvSpPr txBox="1"/>
          <p:nvPr/>
        </p:nvSpPr>
        <p:spPr>
          <a:xfrm>
            <a:off x="457200" y="1298448"/>
            <a:ext cx="1691640" cy="347472"/>
          </a:xfrm>
          <a:prstGeom prst="rect">
            <a:avLst/>
          </a:prstGeom>
          <a:noFill/>
          <a:ln/>
        </p:spPr>
        <p:txBody>
          <a:bodyPr wrap="square" lIns="0" tIns="0" rIns="0" bIns="0" rtlCol="0" anchor="ctr"/>
          <a:lstStyle/>
          <a:p>
            <a:pPr algn="ctr" indent="0" marL="0">
              <a:buNone/>
            </a:pPr>
            <a:r>
              <a:rPr lang="en-US" sz="1300" b="1" dirty="0">
                <a:solidFill>
                  <a:schemeClr val="tx1"/>
                </a:solidFill>
              </a:rPr>
              <a:t>Requirements</a:t>
            </a:r>
            <a:endParaRPr lang="en-US" sz="1300" dirty="0"/>
          </a:p>
        </p:txBody>
      </p:sp>
      <p:sp>
        <p:nvSpPr>
          <p:cNvPr id="6" name="Waterfall arrow 1"/>
          <p:cNvSpPr/>
          <p:nvPr/>
        </p:nvSpPr>
        <p:spPr>
          <a:xfrm>
            <a:off x="1874520" y="1645920"/>
            <a:ext cx="0" cy="164592"/>
          </a:xfrm>
          <a:prstGeom prst="line">
            <a:avLst/>
          </a:prstGeom>
          <a:noFill/>
          <a:ln w="19050">
            <a:solidFill>
              <a:schemeClr val="tx2"/>
            </a:solidFill>
            <a:prstDash val="solid"/>
            <a:tailEnd type="triangle"/>
          </a:ln>
        </p:spPr>
      </p:sp>
      <p:sp>
        <p:nvSpPr>
          <p:cNvPr id="7" name="Waterfall step 2"/>
          <p:cNvSpPr/>
          <p:nvPr/>
        </p:nvSpPr>
        <p:spPr>
          <a:xfrm>
            <a:off x="914400" y="1810512"/>
            <a:ext cx="1691640" cy="347472"/>
          </a:xfrm>
          <a:prstGeom prst="rect">
            <a:avLst/>
          </a:prstGeom>
          <a:solidFill>
            <a:schemeClr val="bg2"/>
          </a:solidFill>
          <a:ln w="12700">
            <a:solidFill>
              <a:schemeClr val="accent1"/>
            </a:solidFill>
            <a:prstDash val="solid"/>
          </a:ln>
        </p:spPr>
      </p:sp>
      <p:sp>
        <p:nvSpPr>
          <p:cNvPr id="8" name="Waterfall step 2 label"/>
          <p:cNvSpPr txBox="1"/>
          <p:nvPr/>
        </p:nvSpPr>
        <p:spPr>
          <a:xfrm>
            <a:off x="914400" y="1810512"/>
            <a:ext cx="1691640" cy="347472"/>
          </a:xfrm>
          <a:prstGeom prst="rect">
            <a:avLst/>
          </a:prstGeom>
          <a:noFill/>
          <a:ln/>
        </p:spPr>
        <p:txBody>
          <a:bodyPr wrap="square" lIns="0" tIns="0" rIns="0" bIns="0" rtlCol="0" anchor="ctr"/>
          <a:lstStyle/>
          <a:p>
            <a:pPr algn="ctr" indent="0" marL="0">
              <a:buNone/>
            </a:pPr>
            <a:r>
              <a:rPr lang="en-US" sz="1300" b="1" dirty="0">
                <a:solidFill>
                  <a:schemeClr val="tx1"/>
                </a:solidFill>
              </a:rPr>
              <a:t>Design</a:t>
            </a:r>
            <a:endParaRPr lang="en-US" sz="1300" dirty="0"/>
          </a:p>
        </p:txBody>
      </p:sp>
      <p:sp>
        <p:nvSpPr>
          <p:cNvPr id="9" name="Waterfall arrow 2"/>
          <p:cNvSpPr/>
          <p:nvPr/>
        </p:nvSpPr>
        <p:spPr>
          <a:xfrm>
            <a:off x="2331720" y="2157984"/>
            <a:ext cx="0" cy="164592"/>
          </a:xfrm>
          <a:prstGeom prst="line">
            <a:avLst/>
          </a:prstGeom>
          <a:noFill/>
          <a:ln w="19050">
            <a:solidFill>
              <a:schemeClr val="tx2"/>
            </a:solidFill>
            <a:prstDash val="solid"/>
            <a:tailEnd type="triangle"/>
          </a:ln>
        </p:spPr>
      </p:sp>
      <p:sp>
        <p:nvSpPr>
          <p:cNvPr id="10" name="Waterfall step 3"/>
          <p:cNvSpPr/>
          <p:nvPr/>
        </p:nvSpPr>
        <p:spPr>
          <a:xfrm>
            <a:off x="1371600" y="2322576"/>
            <a:ext cx="1691640" cy="347472"/>
          </a:xfrm>
          <a:prstGeom prst="rect">
            <a:avLst/>
          </a:prstGeom>
          <a:solidFill>
            <a:schemeClr val="bg2"/>
          </a:solidFill>
          <a:ln w="12700">
            <a:solidFill>
              <a:schemeClr val="accent1"/>
            </a:solidFill>
            <a:prstDash val="solid"/>
          </a:ln>
        </p:spPr>
      </p:sp>
      <p:sp>
        <p:nvSpPr>
          <p:cNvPr id="11" name="Waterfall step 3 label"/>
          <p:cNvSpPr txBox="1"/>
          <p:nvPr/>
        </p:nvSpPr>
        <p:spPr>
          <a:xfrm>
            <a:off x="1371600" y="2322576"/>
            <a:ext cx="1691640" cy="347472"/>
          </a:xfrm>
          <a:prstGeom prst="rect">
            <a:avLst/>
          </a:prstGeom>
          <a:noFill/>
          <a:ln/>
        </p:spPr>
        <p:txBody>
          <a:bodyPr wrap="square" lIns="0" tIns="0" rIns="0" bIns="0" rtlCol="0" anchor="ctr"/>
          <a:lstStyle/>
          <a:p>
            <a:pPr algn="ctr" indent="0" marL="0">
              <a:buNone/>
            </a:pPr>
            <a:r>
              <a:rPr lang="en-US" sz="1300" b="1" dirty="0">
                <a:solidFill>
                  <a:schemeClr val="tx1"/>
                </a:solidFill>
              </a:rPr>
              <a:t>Implementation</a:t>
            </a:r>
            <a:endParaRPr lang="en-US" sz="1300" dirty="0"/>
          </a:p>
        </p:txBody>
      </p:sp>
      <p:sp>
        <p:nvSpPr>
          <p:cNvPr id="12" name="Waterfall arrow 3"/>
          <p:cNvSpPr/>
          <p:nvPr/>
        </p:nvSpPr>
        <p:spPr>
          <a:xfrm>
            <a:off x="2788920" y="2670048"/>
            <a:ext cx="0" cy="164592"/>
          </a:xfrm>
          <a:prstGeom prst="line">
            <a:avLst/>
          </a:prstGeom>
          <a:noFill/>
          <a:ln w="19050">
            <a:solidFill>
              <a:schemeClr val="tx2"/>
            </a:solidFill>
            <a:prstDash val="solid"/>
            <a:tailEnd type="triangle"/>
          </a:ln>
        </p:spPr>
      </p:sp>
      <p:sp>
        <p:nvSpPr>
          <p:cNvPr id="13" name="Waterfall step 4"/>
          <p:cNvSpPr/>
          <p:nvPr/>
        </p:nvSpPr>
        <p:spPr>
          <a:xfrm>
            <a:off x="1828800" y="2834640"/>
            <a:ext cx="1691640" cy="347472"/>
          </a:xfrm>
          <a:prstGeom prst="rect">
            <a:avLst/>
          </a:prstGeom>
          <a:solidFill>
            <a:schemeClr val="bg2"/>
          </a:solidFill>
          <a:ln w="12700">
            <a:solidFill>
              <a:schemeClr val="accent1"/>
            </a:solidFill>
            <a:prstDash val="solid"/>
          </a:ln>
        </p:spPr>
      </p:sp>
      <p:sp>
        <p:nvSpPr>
          <p:cNvPr id="14" name="Waterfall step 4 label"/>
          <p:cNvSpPr txBox="1"/>
          <p:nvPr/>
        </p:nvSpPr>
        <p:spPr>
          <a:xfrm>
            <a:off x="1828800" y="2834640"/>
            <a:ext cx="1691640" cy="347472"/>
          </a:xfrm>
          <a:prstGeom prst="rect">
            <a:avLst/>
          </a:prstGeom>
          <a:noFill/>
          <a:ln/>
        </p:spPr>
        <p:txBody>
          <a:bodyPr wrap="square" lIns="0" tIns="0" rIns="0" bIns="0" rtlCol="0" anchor="ctr"/>
          <a:lstStyle/>
          <a:p>
            <a:pPr algn="ctr" indent="0" marL="0">
              <a:buNone/>
            </a:pPr>
            <a:r>
              <a:rPr lang="en-US" sz="1300" b="1" dirty="0">
                <a:solidFill>
                  <a:schemeClr val="tx1"/>
                </a:solidFill>
              </a:rPr>
              <a:t>Testing</a:t>
            </a:r>
            <a:endParaRPr lang="en-US" sz="1300" dirty="0"/>
          </a:p>
        </p:txBody>
      </p:sp>
      <p:sp>
        <p:nvSpPr>
          <p:cNvPr id="15" name="Waterfall arrow 4"/>
          <p:cNvSpPr/>
          <p:nvPr/>
        </p:nvSpPr>
        <p:spPr>
          <a:xfrm>
            <a:off x="3246120" y="3182112"/>
            <a:ext cx="0" cy="164592"/>
          </a:xfrm>
          <a:prstGeom prst="line">
            <a:avLst/>
          </a:prstGeom>
          <a:noFill/>
          <a:ln w="19050">
            <a:solidFill>
              <a:schemeClr val="tx2"/>
            </a:solidFill>
            <a:prstDash val="solid"/>
            <a:tailEnd type="triangle"/>
          </a:ln>
        </p:spPr>
      </p:sp>
      <p:sp>
        <p:nvSpPr>
          <p:cNvPr id="16" name="Waterfall step 5"/>
          <p:cNvSpPr/>
          <p:nvPr/>
        </p:nvSpPr>
        <p:spPr>
          <a:xfrm>
            <a:off x="2286000" y="3346704"/>
            <a:ext cx="1691640" cy="347472"/>
          </a:xfrm>
          <a:prstGeom prst="rect">
            <a:avLst/>
          </a:prstGeom>
          <a:solidFill>
            <a:schemeClr val="bg2"/>
          </a:solidFill>
          <a:ln w="12700">
            <a:solidFill>
              <a:schemeClr val="accent1"/>
            </a:solidFill>
            <a:prstDash val="solid"/>
          </a:ln>
        </p:spPr>
      </p:sp>
      <p:sp>
        <p:nvSpPr>
          <p:cNvPr id="17" name="Waterfall step 5 label"/>
          <p:cNvSpPr txBox="1"/>
          <p:nvPr/>
        </p:nvSpPr>
        <p:spPr>
          <a:xfrm>
            <a:off x="2286000" y="3346704"/>
            <a:ext cx="1691640" cy="347472"/>
          </a:xfrm>
          <a:prstGeom prst="rect">
            <a:avLst/>
          </a:prstGeom>
          <a:noFill/>
          <a:ln/>
        </p:spPr>
        <p:txBody>
          <a:bodyPr wrap="square" lIns="0" tIns="0" rIns="0" bIns="0" rtlCol="0" anchor="ctr"/>
          <a:lstStyle/>
          <a:p>
            <a:pPr algn="ctr" indent="0" marL="0">
              <a:buNone/>
            </a:pPr>
            <a:r>
              <a:rPr lang="en-US" sz="1300" b="1" dirty="0">
                <a:solidFill>
                  <a:schemeClr val="tx1"/>
                </a:solidFill>
              </a:rPr>
              <a:t>Deployment</a:t>
            </a:r>
            <a:endParaRPr lang="en-US" sz="1300" dirty="0"/>
          </a:p>
        </p:txBody>
      </p:sp>
      <p:sp>
        <p:nvSpPr>
          <p:cNvPr id="18" name="Waterfall arrow 5"/>
          <p:cNvSpPr/>
          <p:nvPr/>
        </p:nvSpPr>
        <p:spPr>
          <a:xfrm>
            <a:off x="3703320" y="3694176"/>
            <a:ext cx="0" cy="164592"/>
          </a:xfrm>
          <a:prstGeom prst="line">
            <a:avLst/>
          </a:prstGeom>
          <a:noFill/>
          <a:ln w="19050">
            <a:solidFill>
              <a:schemeClr val="tx2"/>
            </a:solidFill>
            <a:prstDash val="solid"/>
            <a:tailEnd type="triangle"/>
          </a:ln>
        </p:spPr>
      </p:sp>
      <p:sp>
        <p:nvSpPr>
          <p:cNvPr id="19" name="Waterfall step 6"/>
          <p:cNvSpPr/>
          <p:nvPr/>
        </p:nvSpPr>
        <p:spPr>
          <a:xfrm>
            <a:off x="2743200" y="3858768"/>
            <a:ext cx="1691640" cy="347472"/>
          </a:xfrm>
          <a:prstGeom prst="rect">
            <a:avLst/>
          </a:prstGeom>
          <a:solidFill>
            <a:schemeClr val="bg2"/>
          </a:solidFill>
          <a:ln w="12700">
            <a:solidFill>
              <a:schemeClr val="accent1"/>
            </a:solidFill>
            <a:prstDash val="solid"/>
          </a:ln>
        </p:spPr>
      </p:sp>
      <p:sp>
        <p:nvSpPr>
          <p:cNvPr id="20" name="Waterfall step 6 label"/>
          <p:cNvSpPr txBox="1"/>
          <p:nvPr/>
        </p:nvSpPr>
        <p:spPr>
          <a:xfrm>
            <a:off x="2743200" y="3858768"/>
            <a:ext cx="1691640" cy="347472"/>
          </a:xfrm>
          <a:prstGeom prst="rect">
            <a:avLst/>
          </a:prstGeom>
          <a:noFill/>
          <a:ln/>
        </p:spPr>
        <p:txBody>
          <a:bodyPr wrap="square" lIns="0" tIns="0" rIns="0" bIns="0" rtlCol="0" anchor="ctr"/>
          <a:lstStyle/>
          <a:p>
            <a:pPr algn="ctr" indent="0" marL="0">
              <a:buNone/>
            </a:pPr>
            <a:r>
              <a:rPr lang="en-US" sz="1300" b="1" dirty="0">
                <a:solidFill>
                  <a:schemeClr val="tx1"/>
                </a:solidFill>
              </a:rPr>
              <a:t>Maintenance</a:t>
            </a:r>
            <a:endParaRPr lang="en-US" sz="1300" dirty="0"/>
          </a:p>
        </p:txBody>
      </p:sp>
      <p:sp>
        <p:nvSpPr>
          <p:cNvPr id="21" name="Cascade note"/>
          <p:cNvSpPr txBox="1"/>
          <p:nvPr/>
        </p:nvSpPr>
        <p:spPr>
          <a:xfrm>
            <a:off x="457200" y="4370832"/>
            <a:ext cx="3931920" cy="274320"/>
          </a:xfrm>
          <a:prstGeom prst="rect">
            <a:avLst/>
          </a:prstGeom>
          <a:noFill/>
          <a:ln/>
        </p:spPr>
        <p:txBody>
          <a:bodyPr wrap="square" lIns="0" tIns="0" rIns="0" bIns="0" rtlCol="0" anchor="t"/>
          <a:lstStyle/>
          <a:p>
            <a:pPr indent="0" marL="0">
              <a:buNone/>
            </a:pPr>
            <a:r>
              <a:rPr lang="en-US" sz="1100" i="1" dirty="0">
                <a:solidFill>
                  <a:schemeClr val="accent4"/>
                </a:solidFill>
              </a:rPr>
              <a:t>Each phase is signed off before the next one starts.</a:t>
            </a:r>
            <a:endParaRPr lang="en-US" sz="1100" dirty="0"/>
          </a:p>
        </p:txBody>
      </p:sp>
      <p:sp>
        <p:nvSpPr>
          <p:cNvPr id="22" name="Waterfall point 1 tile"/>
          <p:cNvSpPr/>
          <p:nvPr/>
        </p:nvSpPr>
        <p:spPr>
          <a:xfrm>
            <a:off x="4754880" y="1335024"/>
            <a:ext cx="457200" cy="457200"/>
          </a:xfrm>
          <a:prstGeom prst="rect">
            <a:avLst/>
          </a:prstGeom>
          <a:solidFill>
            <a:schemeClr val="accent1"/>
          </a:solidFill>
          <a:ln/>
        </p:spPr>
      </p:sp>
      <p:pic>
        <p:nvPicPr>
          <p:cNvPr id="23" name="Waterfall point 1 icon" descr="preencoded.png">    </p:cNvPr>
          <p:cNvPicPr>
            <a:picLocks noChangeAspect="1"/>
          </p:cNvPicPr>
          <p:nvPr/>
        </p:nvPicPr>
        <p:blipFill>
          <a:blip r:embed="rId1"/>
          <a:stretch>
            <a:fillRect/>
          </a:stretch>
        </p:blipFill>
        <p:spPr>
          <a:xfrm>
            <a:off x="4855464" y="1435608"/>
            <a:ext cx="256032" cy="256032"/>
          </a:xfrm>
          <a:prstGeom prst="rect">
            <a:avLst/>
          </a:prstGeom>
        </p:spPr>
      </p:pic>
      <p:sp>
        <p:nvSpPr>
          <p:cNvPr id="24" name="Waterfall point 1 text"/>
          <p:cNvSpPr txBox="1"/>
          <p:nvPr/>
        </p:nvSpPr>
        <p:spPr>
          <a:xfrm>
            <a:off x="5376672" y="1298448"/>
            <a:ext cx="3310128" cy="960120"/>
          </a:xfrm>
          <a:prstGeom prst="rect">
            <a:avLst/>
          </a:prstGeom>
          <a:noFill/>
          <a:ln/>
        </p:spPr>
        <p:txBody>
          <a:bodyPr wrap="square" lIns="0" tIns="0" rIns="0" bIns="0" rtlCol="0" anchor="t"/>
          <a:lstStyle/>
          <a:p>
            <a:pPr indent="0" marL="0">
              <a:buNone/>
            </a:pPr>
            <a:r>
              <a:rPr lang="en-US" sz="1400" b="1" dirty="0">
                <a:solidFill>
                  <a:schemeClr val="tx1"/>
                </a:solidFill>
              </a:rPr>
              <a:t>Work moves in one direction.</a:t>
            </a:r>
            <a:endParaRPr lang="en-US" sz="1400" dirty="0"/>
          </a:p>
          <a:p>
            <a:pPr indent="0" marL="0">
              <a:buNone/>
            </a:pPr>
            <a:r>
              <a:rPr lang="en-US" sz="1400" dirty="0">
                <a:solidFill>
                  <a:schemeClr val="tx1"/>
                </a:solidFill>
              </a:rPr>
              <a:t>Each phase is finished before the next begins, so a late change goes back up the chain.</a:t>
            </a:r>
            <a:endParaRPr lang="en-US" sz="1400" dirty="0"/>
          </a:p>
          <a:p>
            <a:pPr indent="0" marL="0">
              <a:buNone/>
            </a:pPr>
            <a:r>
              <a:rPr lang="en-US" sz="1100" dirty="0">
                <a:solidFill>
                  <a:schemeClr val="accent4"/>
                </a:solidFill>
              </a:rPr>
              <a:t>(Jackson et al., 2025)</a:t>
            </a:r>
            <a:endParaRPr lang="en-US" sz="1400" dirty="0"/>
          </a:p>
        </p:txBody>
      </p:sp>
      <p:sp>
        <p:nvSpPr>
          <p:cNvPr id="25" name="Waterfall point 2 tile"/>
          <p:cNvSpPr/>
          <p:nvPr/>
        </p:nvSpPr>
        <p:spPr>
          <a:xfrm>
            <a:off x="4754880" y="2368296"/>
            <a:ext cx="457200" cy="457200"/>
          </a:xfrm>
          <a:prstGeom prst="rect">
            <a:avLst/>
          </a:prstGeom>
          <a:solidFill>
            <a:schemeClr val="accent1"/>
          </a:solidFill>
          <a:ln/>
        </p:spPr>
      </p:sp>
      <p:pic>
        <p:nvPicPr>
          <p:cNvPr id="26" name="Waterfall point 2 icon" descr="preencoded.png">    </p:cNvPr>
          <p:cNvPicPr>
            <a:picLocks noChangeAspect="1"/>
          </p:cNvPicPr>
          <p:nvPr/>
        </p:nvPicPr>
        <p:blipFill>
          <a:blip r:embed="rId2"/>
          <a:stretch>
            <a:fillRect/>
          </a:stretch>
        </p:blipFill>
        <p:spPr>
          <a:xfrm>
            <a:off x="4855464" y="2468880"/>
            <a:ext cx="256032" cy="256032"/>
          </a:xfrm>
          <a:prstGeom prst="rect">
            <a:avLst/>
          </a:prstGeom>
        </p:spPr>
      </p:pic>
      <p:sp>
        <p:nvSpPr>
          <p:cNvPr id="27" name="Waterfall point 2 text"/>
          <p:cNvSpPr txBox="1"/>
          <p:nvPr/>
        </p:nvSpPr>
        <p:spPr>
          <a:xfrm>
            <a:off x="5376672" y="2331720"/>
            <a:ext cx="3310128" cy="960120"/>
          </a:xfrm>
          <a:prstGeom prst="rect">
            <a:avLst/>
          </a:prstGeom>
          <a:noFill/>
          <a:ln/>
        </p:spPr>
        <p:txBody>
          <a:bodyPr wrap="square" lIns="0" tIns="0" rIns="0" bIns="0" rtlCol="0" anchor="t"/>
          <a:lstStyle/>
          <a:p>
            <a:pPr indent="0" marL="0">
              <a:buNone/>
            </a:pPr>
            <a:r>
              <a:rPr lang="en-US" sz="1400" b="1" dirty="0">
                <a:solidFill>
                  <a:schemeClr val="tx1"/>
                </a:solidFill>
              </a:rPr>
              <a:t>The client sees results late.</a:t>
            </a:r>
            <a:endParaRPr lang="en-US" sz="1400" dirty="0"/>
          </a:p>
          <a:p>
            <a:pPr indent="0" marL="0">
              <a:buNone/>
            </a:pPr>
            <a:r>
              <a:rPr lang="en-US" sz="1400" dirty="0">
                <a:solidFill>
                  <a:schemeClr val="tx1"/>
                </a:solidFill>
              </a:rPr>
              <a:t>Customers mostly take part during planning at the start and evaluation at the end.</a:t>
            </a:r>
            <a:endParaRPr lang="en-US" sz="1400" dirty="0"/>
          </a:p>
          <a:p>
            <a:pPr indent="0" marL="0">
              <a:buNone/>
            </a:pPr>
            <a:r>
              <a:rPr lang="en-US" sz="1100" dirty="0">
                <a:solidFill>
                  <a:schemeClr val="accent4"/>
                </a:solidFill>
              </a:rPr>
              <a:t>(Mishra &amp; Alzoubi, 2023)</a:t>
            </a:r>
            <a:endParaRPr lang="en-US" sz="1400" dirty="0"/>
          </a:p>
        </p:txBody>
      </p:sp>
      <p:sp>
        <p:nvSpPr>
          <p:cNvPr id="28" name="Waterfall point 3 tile"/>
          <p:cNvSpPr/>
          <p:nvPr/>
        </p:nvSpPr>
        <p:spPr>
          <a:xfrm>
            <a:off x="4754880" y="3401568"/>
            <a:ext cx="457200" cy="457200"/>
          </a:xfrm>
          <a:prstGeom prst="rect">
            <a:avLst/>
          </a:prstGeom>
          <a:solidFill>
            <a:schemeClr val="accent1"/>
          </a:solidFill>
          <a:ln/>
        </p:spPr>
      </p:sp>
      <p:pic>
        <p:nvPicPr>
          <p:cNvPr id="29" name="Waterfall point 3 icon" descr="preencoded.png">    </p:cNvPr>
          <p:cNvPicPr>
            <a:picLocks noChangeAspect="1"/>
          </p:cNvPicPr>
          <p:nvPr/>
        </p:nvPicPr>
        <p:blipFill>
          <a:blip r:embed="rId3"/>
          <a:stretch>
            <a:fillRect/>
          </a:stretch>
        </p:blipFill>
        <p:spPr>
          <a:xfrm>
            <a:off x="4855464" y="3502152"/>
            <a:ext cx="256032" cy="256032"/>
          </a:xfrm>
          <a:prstGeom prst="rect">
            <a:avLst/>
          </a:prstGeom>
        </p:spPr>
      </p:pic>
      <p:sp>
        <p:nvSpPr>
          <p:cNvPr id="30" name="Waterfall point 3 text"/>
          <p:cNvSpPr txBox="1"/>
          <p:nvPr/>
        </p:nvSpPr>
        <p:spPr>
          <a:xfrm>
            <a:off x="5376672" y="3364992"/>
            <a:ext cx="3310128" cy="960120"/>
          </a:xfrm>
          <a:prstGeom prst="rect">
            <a:avLst/>
          </a:prstGeom>
          <a:noFill/>
          <a:ln/>
        </p:spPr>
        <p:txBody>
          <a:bodyPr wrap="square" lIns="0" tIns="0" rIns="0" bIns="0" rtlCol="0" anchor="t"/>
          <a:lstStyle/>
          <a:p>
            <a:pPr indent="0" marL="0">
              <a:buNone/>
            </a:pPr>
            <a:r>
              <a:rPr lang="en-US" sz="1400" b="1" dirty="0">
                <a:solidFill>
                  <a:schemeClr val="tx1"/>
                </a:solidFill>
              </a:rPr>
              <a:t>Best for stable requirements.</a:t>
            </a:r>
            <a:endParaRPr lang="en-US" sz="1400" dirty="0"/>
          </a:p>
          <a:p>
            <a:pPr indent="0" marL="0">
              <a:buNone/>
            </a:pPr>
            <a:r>
              <a:rPr lang="en-US" sz="1400" dirty="0">
                <a:solidFill>
                  <a:schemeClr val="tx1"/>
                </a:solidFill>
              </a:rPr>
              <a:t>It fits when the requirements are well defined and unlikely to change.</a:t>
            </a:r>
            <a:endParaRPr lang="en-US" sz="1400" dirty="0"/>
          </a:p>
          <a:p>
            <a:pPr indent="0" marL="0">
              <a:buNone/>
            </a:pPr>
            <a:r>
              <a:rPr lang="en-US" sz="1100" dirty="0">
                <a:solidFill>
                  <a:schemeClr val="accent4"/>
                </a:solidFill>
              </a:rPr>
              <a:t>(Mishra &amp; Alzoubi, 2023)</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658368" y="292608"/>
            <a:ext cx="5486400" cy="274320"/>
          </a:xfrm>
          <a:prstGeom prst="rect">
            <a:avLst/>
          </a:prstGeom>
          <a:noFill/>
          <a:ln/>
        </p:spPr>
        <p:txBody>
          <a:bodyPr wrap="square" lIns="0" tIns="0" rIns="0" bIns="0" rtlCol="0" anchor="ctr"/>
          <a:lstStyle/>
          <a:p>
            <a:pPr algn="l" indent="0" marL="0">
              <a:buNone/>
            </a:pPr>
            <a:r>
              <a:rPr lang="en-US" sz="1100" b="1" spc="100" kern="0" dirty="0">
                <a:solidFill>
                  <a:schemeClr val="tx2"/>
                </a:solidFill>
              </a:rPr>
              <a:t>WATERFALL VS. AGILE</a:t>
            </a:r>
            <a:endParaRPr lang="en-US" sz="1100" dirty="0"/>
          </a:p>
        </p:txBody>
      </p:sp>
      <p:sp>
        <p:nvSpPr>
          <p:cNvPr id="3" name="Text 1"/>
          <p:cNvSpPr/>
          <p:nvPr>
            <p:ph idx="102" type="title" hasCustomPrompt="1"/>
          </p:nvPr>
        </p:nvSpPr>
        <p:spPr>
          <a:xfrm>
            <a:off x="457200" y="566928"/>
            <a:ext cx="8229600" cy="548640"/>
          </a:xfrm>
          <a:prstGeom prst="rect">
            <a:avLst/>
          </a:prstGeom>
          <a:noFill/>
          <a:ln/>
        </p:spPr>
        <p:txBody>
          <a:bodyPr wrap="square" lIns="0" tIns="0" rIns="0" bIns="0" rtlCol="0" anchor="t"/>
          <a:lstStyle/>
          <a:p>
            <a:pPr algn="l" indent="0" marL="0">
              <a:buNone/>
            </a:pPr>
            <a:r>
              <a:rPr lang="en-US" sz="2800" b="1" dirty="0">
                <a:solidFill>
                  <a:schemeClr val="tx1"/>
                </a:solidFill>
              </a:rPr>
              <a:t>The wellness change under each approach</a:t>
            </a:r>
            <a:endParaRPr lang="en-US" sz="2800" dirty="0"/>
          </a:p>
        </p:txBody>
      </p:sp>
      <p:sp>
        <p:nvSpPr>
          <p:cNvPr id="4" name="Change marker"/>
          <p:cNvSpPr/>
          <p:nvPr/>
        </p:nvSpPr>
        <p:spPr>
          <a:xfrm>
            <a:off x="457200" y="1298448"/>
            <a:ext cx="128016" cy="128016"/>
          </a:xfrm>
          <a:prstGeom prst="rect">
            <a:avLst/>
          </a:prstGeom>
          <a:solidFill>
            <a:schemeClr val="accent3"/>
          </a:solidFill>
          <a:ln/>
        </p:spPr>
      </p:sp>
      <p:sp>
        <p:nvSpPr>
          <p:cNvPr id="5" name="Change summary"/>
          <p:cNvSpPr txBox="1"/>
          <p:nvPr/>
        </p:nvSpPr>
        <p:spPr>
          <a:xfrm>
            <a:off x="685800" y="1216152"/>
            <a:ext cx="8001000" cy="292608"/>
          </a:xfrm>
          <a:prstGeom prst="rect">
            <a:avLst/>
          </a:prstGeom>
          <a:noFill/>
          <a:ln/>
        </p:spPr>
        <p:txBody>
          <a:bodyPr wrap="square" lIns="0" tIns="0" rIns="0" bIns="0" rtlCol="0" anchor="t"/>
          <a:lstStyle/>
          <a:p>
            <a:pPr indent="0" marL="0">
              <a:buNone/>
            </a:pPr>
            <a:r>
              <a:rPr lang="en-US" sz="1400" dirty="0">
                <a:solidFill>
                  <a:schemeClr val="tx1"/>
                </a:solidFill>
              </a:rPr>
              <a:t>Midway through the project, SNHU Travel moved the booking tool to detox and wellness travel.</a:t>
            </a:r>
            <a:endParaRPr lang="en-US" sz="1400" dirty="0"/>
          </a:p>
        </p:txBody>
      </p:sp>
      <p:sp>
        <p:nvSpPr>
          <p:cNvPr id="6" name="Scrum card"/>
          <p:cNvSpPr/>
          <p:nvPr/>
        </p:nvSpPr>
        <p:spPr>
          <a:xfrm>
            <a:off x="457200" y="1645920"/>
            <a:ext cx="4023360" cy="2606040"/>
          </a:xfrm>
          <a:prstGeom prst="rect">
            <a:avLst/>
          </a:prstGeom>
          <a:solidFill>
            <a:schemeClr val="bg2"/>
          </a:solidFill>
          <a:ln/>
        </p:spPr>
      </p:sp>
      <p:sp>
        <p:nvSpPr>
          <p:cNvPr id="7" name="Scrum heading"/>
          <p:cNvSpPr txBox="1"/>
          <p:nvPr/>
        </p:nvSpPr>
        <p:spPr>
          <a:xfrm>
            <a:off x="685800" y="1783080"/>
            <a:ext cx="3566160" cy="320040"/>
          </a:xfrm>
          <a:prstGeom prst="rect">
            <a:avLst/>
          </a:prstGeom>
          <a:noFill/>
          <a:ln/>
        </p:spPr>
        <p:txBody>
          <a:bodyPr wrap="square" lIns="0" tIns="0" rIns="0" bIns="0" rtlCol="0" anchor="t"/>
          <a:lstStyle/>
          <a:p>
            <a:pPr indent="0" marL="0">
              <a:buNone/>
            </a:pPr>
            <a:r>
              <a:rPr lang="en-US" sz="1600" b="1" dirty="0">
                <a:solidFill>
                  <a:schemeClr val="tx2"/>
                </a:solidFill>
                <a:latin typeface="+mj-lt" pitchFamily="34" charset="0"/>
                <a:ea typeface="+mj-lt" pitchFamily="34" charset="-122"/>
                <a:cs typeface="+mj-lt" pitchFamily="34" charset="-120"/>
              </a:rPr>
              <a:t>Under Scrum: what happened</a:t>
            </a:r>
            <a:endParaRPr lang="en-US" sz="1600" dirty="0"/>
          </a:p>
        </p:txBody>
      </p:sp>
      <p:sp>
        <p:nvSpPr>
          <p:cNvPr id="8" name="Scrum steps"/>
          <p:cNvSpPr txBox="1"/>
          <p:nvPr/>
        </p:nvSpPr>
        <p:spPr>
          <a:xfrm>
            <a:off x="685800" y="2194560"/>
            <a:ext cx="3611880" cy="196596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400" dirty="0">
                <a:solidFill>
                  <a:schemeClr val="tx1"/>
                </a:solidFill>
              </a:rPr>
              <a:t>Christy kept the finished work and changed only the vacation types.</a:t>
            </a:r>
            <a:endParaRPr lang="en-US" sz="1400" dirty="0"/>
          </a:p>
          <a:p>
            <a:pPr marL="342900" indent="-342900">
              <a:spcAft>
                <a:spcPts val="500"/>
              </a:spcAft>
              <a:buSzPct val="100000"/>
              <a:buFont typeface="+mj-lt"/>
              <a:buAutoNum type="arabicPeriod" startAt="1"/>
            </a:pPr>
            <a:r>
              <a:rPr lang="en-US" sz="1400" dirty="0">
                <a:solidFill>
                  <a:schemeClr val="tx1"/>
                </a:solidFill>
              </a:rPr>
              <a:t>I kept the slide show navigation and swapped in five wellness trips.</a:t>
            </a:r>
            <a:endParaRPr lang="en-US" sz="1400" dirty="0"/>
          </a:p>
          <a:p>
            <a:pPr marL="342900" indent="-342900">
              <a:spcAft>
                <a:spcPts val="500"/>
              </a:spcAft>
              <a:buSzPct val="100000"/>
              <a:buFont typeface="+mj-lt"/>
              <a:buAutoNum type="arabicPeriod" startAt="1"/>
            </a:pPr>
            <a:r>
              <a:rPr lang="en-US" sz="1400" dirty="0">
                <a:solidFill>
                  <a:schemeClr val="tx1"/>
                </a:solidFill>
              </a:rPr>
              <a:t>My questions went to Christy and the Tester before the Daily Scrum.</a:t>
            </a:r>
            <a:endParaRPr lang="en-US" sz="1400" dirty="0"/>
          </a:p>
          <a:p>
            <a:pPr marL="342900" indent="-342900">
              <a:spcAft>
                <a:spcPts val="500"/>
              </a:spcAft>
              <a:buSzPct val="100000"/>
              <a:buFont typeface="+mj-lt"/>
              <a:buAutoNum type="arabicPeriod" startAt="1"/>
            </a:pPr>
            <a:r>
              <a:rPr lang="en-US" sz="1400" dirty="0">
                <a:solidFill>
                  <a:schemeClr val="tx1"/>
                </a:solidFill>
              </a:rPr>
              <a:t>Test cases were updated in the same Sprint as the code.</a:t>
            </a:r>
            <a:endParaRPr lang="en-US" sz="1400" dirty="0"/>
          </a:p>
        </p:txBody>
      </p:sp>
      <p:sp>
        <p:nvSpPr>
          <p:cNvPr id="9" name="Waterfall card"/>
          <p:cNvSpPr/>
          <p:nvPr/>
        </p:nvSpPr>
        <p:spPr>
          <a:xfrm>
            <a:off x="4663440" y="1645920"/>
            <a:ext cx="4023360" cy="2606040"/>
          </a:xfrm>
          <a:prstGeom prst="rect">
            <a:avLst/>
          </a:prstGeom>
          <a:solidFill>
            <a:srgbClr val="F1F3F5"/>
          </a:solidFill>
          <a:ln/>
        </p:spPr>
      </p:sp>
      <p:sp>
        <p:nvSpPr>
          <p:cNvPr id="10" name="Waterfall heading"/>
          <p:cNvSpPr txBox="1"/>
          <p:nvPr/>
        </p:nvSpPr>
        <p:spPr>
          <a:xfrm>
            <a:off x="4892040" y="1783080"/>
            <a:ext cx="3566160" cy="320040"/>
          </a:xfrm>
          <a:prstGeom prst="rect">
            <a:avLst/>
          </a:prstGeom>
          <a:noFill/>
          <a:ln/>
        </p:spPr>
        <p:txBody>
          <a:bodyPr wrap="square" lIns="0" tIns="0" rIns="0" bIns="0" rtlCol="0" anchor="t"/>
          <a:lstStyle/>
          <a:p>
            <a:pPr indent="0" marL="0">
              <a:buNone/>
            </a:pPr>
            <a:r>
              <a:rPr lang="en-US" sz="1600" b="1" dirty="0">
                <a:solidFill>
                  <a:schemeClr val="tx2"/>
                </a:solidFill>
                <a:latin typeface="+mj-lt" pitchFamily="34" charset="0"/>
                <a:ea typeface="+mj-lt" pitchFamily="34" charset="-122"/>
                <a:cs typeface="+mj-lt" pitchFamily="34" charset="-120"/>
              </a:rPr>
              <a:t>Under waterfall: what it would take</a:t>
            </a:r>
            <a:endParaRPr lang="en-US" sz="1600" dirty="0"/>
          </a:p>
        </p:txBody>
      </p:sp>
      <p:sp>
        <p:nvSpPr>
          <p:cNvPr id="11" name="Waterfall steps"/>
          <p:cNvSpPr txBox="1"/>
          <p:nvPr/>
        </p:nvSpPr>
        <p:spPr>
          <a:xfrm>
            <a:off x="4892040" y="2194560"/>
            <a:ext cx="3611880" cy="196596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400" dirty="0">
                <a:solidFill>
                  <a:schemeClr val="tx1"/>
                </a:solidFill>
              </a:rPr>
              <a:t>Requirements were already signed off, so a formal change request starts.</a:t>
            </a:r>
            <a:endParaRPr lang="en-US" sz="1400" dirty="0"/>
          </a:p>
          <a:p>
            <a:pPr marL="342900" indent="-342900">
              <a:spcAft>
                <a:spcPts val="500"/>
              </a:spcAft>
              <a:buSzPct val="100000"/>
              <a:buFont typeface="+mj-lt"/>
              <a:buAutoNum type="arabicPeriod" startAt="1"/>
            </a:pPr>
            <a:r>
              <a:rPr lang="en-US" sz="1400" dirty="0">
                <a:solidFill>
                  <a:schemeClr val="tx1"/>
                </a:solidFill>
              </a:rPr>
              <a:t>Design documents are reopened and approved again.</a:t>
            </a:r>
            <a:endParaRPr lang="en-US" sz="1400" dirty="0"/>
          </a:p>
          <a:p>
            <a:pPr marL="342900" indent="-342900">
              <a:spcAft>
                <a:spcPts val="500"/>
              </a:spcAft>
              <a:buSzPct val="100000"/>
              <a:buFont typeface="+mj-lt"/>
              <a:buAutoNum type="arabicPeriod" startAt="1"/>
            </a:pPr>
            <a:r>
              <a:rPr lang="en-US" sz="1400" dirty="0">
                <a:solidFill>
                  <a:schemeClr val="tx1"/>
                </a:solidFill>
              </a:rPr>
              <a:t>Code written to the old plan gets reworked after approval.</a:t>
            </a:r>
            <a:endParaRPr lang="en-US" sz="1400" dirty="0"/>
          </a:p>
          <a:p>
            <a:pPr marL="342900" indent="-342900">
              <a:spcAft>
                <a:spcPts val="500"/>
              </a:spcAft>
              <a:buSzPct val="100000"/>
              <a:buFont typeface="+mj-lt"/>
              <a:buAutoNum type="arabicPeriod" startAt="1"/>
            </a:pPr>
            <a:r>
              <a:rPr lang="en-US" sz="1400" dirty="0">
                <a:solidFill>
                  <a:schemeClr val="tx1"/>
                </a:solidFill>
              </a:rPr>
              <a:t>Testing waits until the end, when defects cost the most to fix.</a:t>
            </a:r>
            <a:endParaRPr lang="en-US" sz="1400" dirty="0"/>
          </a:p>
        </p:txBody>
      </p:sp>
      <p:sp>
        <p:nvSpPr>
          <p:cNvPr id="12" name="Takeaway"/>
          <p:cNvSpPr txBox="1"/>
          <p:nvPr/>
        </p:nvSpPr>
        <p:spPr>
          <a:xfrm>
            <a:off x="457200" y="4343400"/>
            <a:ext cx="8229600" cy="292608"/>
          </a:xfrm>
          <a:prstGeom prst="rect">
            <a:avLst/>
          </a:prstGeom>
          <a:noFill/>
          <a:ln/>
        </p:spPr>
        <p:txBody>
          <a:bodyPr wrap="square" lIns="0" tIns="0" rIns="0" bIns="0" rtlCol="0" anchor="t"/>
          <a:lstStyle/>
          <a:p>
            <a:pPr indent="0" marL="0">
              <a:buNone/>
            </a:pPr>
            <a:r>
              <a:rPr lang="en-US" sz="1400" i="1" dirty="0">
                <a:solidFill>
                  <a:schemeClr val="tx2"/>
                </a:solidFill>
              </a:rPr>
              <a:t>Cost under Scrum: one updated slide show and a revised set of test cases.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658368" y="292608"/>
            <a:ext cx="5486400" cy="274320"/>
          </a:xfrm>
          <a:prstGeom prst="rect">
            <a:avLst/>
          </a:prstGeom>
          <a:noFill/>
          <a:ln/>
        </p:spPr>
        <p:txBody>
          <a:bodyPr wrap="square" lIns="0" tIns="0" rIns="0" bIns="0" rtlCol="0" anchor="ctr"/>
          <a:lstStyle/>
          <a:p>
            <a:pPr algn="l" indent="0" marL="0">
              <a:buNone/>
            </a:pPr>
            <a:r>
              <a:rPr lang="en-US" sz="1100" b="1" spc="100" kern="0" dirty="0">
                <a:solidFill>
                  <a:schemeClr val="tx2"/>
                </a:solidFill>
              </a:rPr>
              <a:t>CHOOSING AN APPROACH</a:t>
            </a:r>
            <a:endParaRPr lang="en-US" sz="1100" dirty="0"/>
          </a:p>
        </p:txBody>
      </p:sp>
      <p:sp>
        <p:nvSpPr>
          <p:cNvPr id="3" name="Text 1"/>
          <p:cNvSpPr/>
          <p:nvPr>
            <p:ph idx="102" type="title" hasCustomPrompt="1"/>
          </p:nvPr>
        </p:nvSpPr>
        <p:spPr>
          <a:xfrm>
            <a:off x="457200" y="566928"/>
            <a:ext cx="8229600" cy="548640"/>
          </a:xfrm>
          <a:prstGeom prst="rect">
            <a:avLst/>
          </a:prstGeom>
          <a:noFill/>
          <a:ln/>
        </p:spPr>
        <p:txBody>
          <a:bodyPr wrap="square" lIns="0" tIns="0" rIns="0" bIns="0" rtlCol="0" anchor="t"/>
          <a:lstStyle/>
          <a:p>
            <a:pPr algn="l" indent="0" marL="0">
              <a:buNone/>
            </a:pPr>
            <a:r>
              <a:rPr lang="en-US" sz="2800" b="1" dirty="0">
                <a:solidFill>
                  <a:schemeClr val="tx1"/>
                </a:solidFill>
              </a:rPr>
              <a:t>Choosing waterfall or Agile</a:t>
            </a:r>
            <a:endParaRPr lang="en-US" sz="2800" dirty="0"/>
          </a:p>
        </p:txBody>
      </p:sp>
      <p:graphicFrame>
        <p:nvGraphicFramePr>
          <p:cNvPr id="9" name="Decision factor table"/>
          <p:cNvGraphicFramePr>
            <a:graphicFrameLocks noGrp="1"/>
          </p:cNvGraphicFramePr>
          <p:nvPr>
            <p:extLst>
              <p:ext uri="{D42A27DB-BD31-4B8C-83A1-F6EECF244321}">
                <p14:modId xmlns:p14="http://schemas.microsoft.com/office/powerpoint/2010/main" val="1579011935"/>
              </p:ext>
            </p:extLst>
          </p:nvPr>
        </p:nvGraphicFramePr>
        <p:xfrm>
          <a:off x="457200" y="1261872"/>
          <a:ext cx="8229600" cy="914400"/>
        </p:xfrm>
        <a:graphic>
          <a:graphicData uri="http://schemas.openxmlformats.org/drawingml/2006/table">
            <a:tbl>
              <a:tblPr/>
              <a:tblGrid>
                <a:gridCol w="1554480"/>
                <a:gridCol w="2286000"/>
                <a:gridCol w="2331720"/>
                <a:gridCol w="2057400"/>
              </a:tblGrid>
              <a:tr h="365760">
                <a:tc>
                  <a:txBody>
                    <a:bodyPr/>
                    <a:lstStyle/>
                    <a:p>
                      <a:pPr indent="0" marL="0">
                        <a:buNone/>
                      </a:pPr>
                      <a:r>
                        <a:rPr lang="en-US" sz="1200" b="1" dirty="0">
                          <a:solidFill>
                            <a:schemeClr val="bg1"/>
                          </a:solidFill>
                        </a:rPr>
                        <a:t>Factor</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Agile fits when</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Waterfall fits when</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SNHU Travel pilot</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tx2"/>
                    </a:solidFill>
                  </a:tcPr>
                </a:tc>
              </a:tr>
              <a:tr h="512064">
                <a:tc>
                  <a:txBody>
                    <a:bodyPr/>
                    <a:lstStyle/>
                    <a:p>
                      <a:pPr indent="0" marL="0">
                        <a:buNone/>
                      </a:pPr>
                      <a:r>
                        <a:rPr lang="en-US" sz="1200" b="1" dirty="0">
                          <a:solidFill>
                            <a:schemeClr val="tx1"/>
                          </a:solidFill>
                        </a:rPr>
                        <a:t>Requirement stability</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tcPr>
                </a:tc>
                <a:tc>
                  <a:txBody>
                    <a:bodyPr/>
                    <a:lstStyle/>
                    <a:p>
                      <a:pPr indent="0" marL="0">
                        <a:buNone/>
                      </a:pPr>
                      <a:r>
                        <a:rPr lang="en-US" sz="1200" dirty="0">
                          <a:solidFill>
                            <a:schemeClr val="tx1"/>
                          </a:solidFill>
                        </a:rPr>
                        <a:t>Needs will change as users see the product</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tcPr>
                </a:tc>
                <a:tc>
                  <a:txBody>
                    <a:bodyPr/>
                    <a:lstStyle/>
                    <a:p>
                      <a:pPr indent="0" marL="0">
                        <a:buNone/>
                      </a:pPr>
                      <a:r>
                        <a:rPr lang="en-US" sz="1200" dirty="0">
                          <a:solidFill>
                            <a:schemeClr val="tx1"/>
                          </a:solidFill>
                        </a:rPr>
                        <a:t>Requirements are known and stable at the start</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tcPr>
                </a:tc>
                <a:tc>
                  <a:txBody>
                    <a:bodyPr/>
                    <a:lstStyle/>
                    <a:p>
                      <a:pPr indent="0" marL="0">
                        <a:buNone/>
                      </a:pPr>
                      <a:r>
                        <a:rPr lang="en-US" sz="1200" b="1" dirty="0">
                          <a:solidFill>
                            <a:schemeClr val="tx2"/>
                          </a:solidFill>
                        </a:rPr>
                        <a:t>Changed twice in five weeks</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bg2"/>
                    </a:solidFill>
                  </a:tcPr>
                </a:tc>
              </a:tr>
              <a:tr h="512064">
                <a:tc>
                  <a:txBody>
                    <a:bodyPr/>
                    <a:lstStyle/>
                    <a:p>
                      <a:pPr indent="0" marL="0">
                        <a:buNone/>
                      </a:pPr>
                      <a:r>
                        <a:rPr lang="en-US" sz="1200" b="1" dirty="0">
                          <a:solidFill>
                            <a:schemeClr val="tx1"/>
                          </a:solidFill>
                        </a:rPr>
                        <a:t>Client involvement</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tcPr>
                </a:tc>
                <a:tc>
                  <a:txBody>
                    <a:bodyPr/>
                    <a:lstStyle/>
                    <a:p>
                      <a:pPr indent="0" marL="0">
                        <a:buNone/>
                      </a:pPr>
                      <a:r>
                        <a:rPr lang="en-US" sz="1200" dirty="0">
                          <a:solidFill>
                            <a:schemeClr val="tx1"/>
                          </a:solidFill>
                        </a:rPr>
                        <a:t>The client can review work every Sprint</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tcPr>
                </a:tc>
                <a:tc>
                  <a:txBody>
                    <a:bodyPr/>
                    <a:lstStyle/>
                    <a:p>
                      <a:pPr indent="0" marL="0">
                        <a:buNone/>
                      </a:pPr>
                      <a:r>
                        <a:rPr lang="en-US" sz="1200" dirty="0">
                          <a:solidFill>
                            <a:schemeClr val="tx1"/>
                          </a:solidFill>
                        </a:rPr>
                        <a:t>The client is mainly available at the start and end</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tcPr>
                </a:tc>
                <a:tc>
                  <a:txBody>
                    <a:bodyPr/>
                    <a:lstStyle/>
                    <a:p>
                      <a:pPr indent="0" marL="0">
                        <a:buNone/>
                      </a:pPr>
                      <a:r>
                        <a:rPr lang="en-US" sz="1200" b="1" dirty="0">
                          <a:solidFill>
                            <a:schemeClr val="tx2"/>
                          </a:solidFill>
                        </a:rPr>
                        <a:t>Amanda reviews each increment</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bg2"/>
                    </a:solidFill>
                  </a:tcPr>
                </a:tc>
              </a:tr>
              <a:tr h="512064">
                <a:tc>
                  <a:txBody>
                    <a:bodyPr/>
                    <a:lstStyle/>
                    <a:p>
                      <a:pPr indent="0" marL="0">
                        <a:buNone/>
                      </a:pPr>
                      <a:r>
                        <a:rPr lang="en-US" sz="1200" b="1" dirty="0">
                          <a:solidFill>
                            <a:schemeClr val="tx1"/>
                          </a:solidFill>
                        </a:rPr>
                        <a:t>Size and team spread</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tcPr>
                </a:tc>
                <a:tc>
                  <a:txBody>
                    <a:bodyPr/>
                    <a:lstStyle/>
                    <a:p>
                      <a:pPr indent="0" marL="0">
                        <a:buNone/>
                      </a:pPr>
                      <a:r>
                        <a:rPr lang="en-US" sz="1200" dirty="0">
                          <a:solidFill>
                            <a:schemeClr val="tx1"/>
                          </a:solidFill>
                        </a:rPr>
                        <a:t>A small team that works closely together</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tcPr>
                </a:tc>
                <a:tc>
                  <a:txBody>
                    <a:bodyPr/>
                    <a:lstStyle/>
                    <a:p>
                      <a:pPr indent="0" marL="0">
                        <a:buNone/>
                      </a:pPr>
                      <a:r>
                        <a:rPr lang="en-US" sz="1200" dirty="0">
                          <a:solidFill>
                            <a:schemeClr val="tx1"/>
                          </a:solidFill>
                        </a:rPr>
                        <a:t>A large project with teams spread across sites</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tcPr>
                </a:tc>
                <a:tc>
                  <a:txBody>
                    <a:bodyPr/>
                    <a:lstStyle/>
                    <a:p>
                      <a:pPr indent="0" marL="0">
                        <a:buNone/>
                      </a:pPr>
                      <a:r>
                        <a:rPr lang="en-US" sz="1200" b="1" dirty="0">
                          <a:solidFill>
                            <a:schemeClr val="tx2"/>
                          </a:solidFill>
                        </a:rPr>
                        <a:t>One small Scrum Team</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bg2"/>
                    </a:solidFill>
                  </a:tcPr>
                </a:tc>
              </a:tr>
              <a:tr h="512064">
                <a:tc>
                  <a:txBody>
                    <a:bodyPr/>
                    <a:lstStyle/>
                    <a:p>
                      <a:pPr indent="0" marL="0">
                        <a:buNone/>
                      </a:pPr>
                      <a:r>
                        <a:rPr lang="en-US" sz="1200" b="1" dirty="0">
                          <a:solidFill>
                            <a:schemeClr val="tx1"/>
                          </a:solidFill>
                        </a:rPr>
                        <a:t>Cost of late change</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tcPr>
                </a:tc>
                <a:tc>
                  <a:txBody>
                    <a:bodyPr/>
                    <a:lstStyle/>
                    <a:p>
                      <a:pPr indent="0" marL="0">
                        <a:buNone/>
                      </a:pPr>
                      <a:r>
                        <a:rPr lang="en-US" sz="1200" dirty="0">
                          <a:solidFill>
                            <a:schemeClr val="tx1"/>
                          </a:solidFill>
                        </a:rPr>
                        <a:t>Late changes must stay cheap</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tcPr>
                </a:tc>
                <a:tc>
                  <a:txBody>
                    <a:bodyPr/>
                    <a:lstStyle/>
                    <a:p>
                      <a:pPr indent="0" marL="0">
                        <a:buNone/>
                      </a:pPr>
                      <a:r>
                        <a:rPr lang="en-US" sz="1200" dirty="0">
                          <a:solidFill>
                            <a:schemeClr val="tx1"/>
                          </a:solidFill>
                        </a:rPr>
                        <a:t>Change is rare and formally controlled</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tcPr>
                </a:tc>
                <a:tc>
                  <a:txBody>
                    <a:bodyPr/>
                    <a:lstStyle/>
                    <a:p>
                      <a:pPr indent="0" marL="0">
                        <a:buNone/>
                      </a:pPr>
                      <a:r>
                        <a:rPr lang="en-US" sz="1200" b="1" dirty="0">
                          <a:solidFill>
                            <a:schemeClr val="tx2"/>
                          </a:solidFill>
                        </a:rPr>
                        <a:t>The wellness change came mid-project</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bg2"/>
                    </a:solidFill>
                  </a:tcPr>
                </a:tc>
              </a:tr>
              <a:tr h="512064">
                <a:tc>
                  <a:txBody>
                    <a:bodyPr/>
                    <a:lstStyle/>
                    <a:p>
                      <a:pPr indent="0" marL="0">
                        <a:buNone/>
                      </a:pPr>
                      <a:r>
                        <a:rPr lang="en-US" sz="1200" b="1" dirty="0">
                          <a:solidFill>
                            <a:schemeClr val="tx1"/>
                          </a:solidFill>
                        </a:rPr>
                        <a:t>Delivery timeline</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tcPr>
                </a:tc>
                <a:tc>
                  <a:txBody>
                    <a:bodyPr/>
                    <a:lstStyle/>
                    <a:p>
                      <a:pPr indent="0" marL="0">
                        <a:buNone/>
                      </a:pPr>
                      <a:r>
                        <a:rPr lang="en-US" sz="1200" dirty="0">
                          <a:solidFill>
                            <a:schemeClr val="tx1"/>
                          </a:solidFill>
                        </a:rPr>
                        <a:t>The client needs working software early</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tcPr>
                </a:tc>
                <a:tc>
                  <a:txBody>
                    <a:bodyPr/>
                    <a:lstStyle/>
                    <a:p>
                      <a:pPr indent="0" marL="0">
                        <a:buNone/>
                      </a:pPr>
                      <a:r>
                        <a:rPr lang="en-US" sz="1200" dirty="0">
                          <a:solidFill>
                            <a:schemeClr val="tx1"/>
                          </a:solidFill>
                        </a:rPr>
                        <a:t>One full release on a fixed date is acceptable</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tcPr>
                </a:tc>
                <a:tc>
                  <a:txBody>
                    <a:bodyPr/>
                    <a:lstStyle/>
                    <a:p>
                      <a:pPr indent="0" marL="0">
                        <a:buNone/>
                      </a:pPr>
                      <a:r>
                        <a:rPr lang="en-US" sz="1200" b="1" dirty="0">
                          <a:solidFill>
                            <a:schemeClr val="tx2"/>
                          </a:solidFill>
                        </a:rPr>
                        <a:t>Five-week deadline</a:t>
                      </a:r>
                      <a:endParaRPr lang="en-US" sz="1200" dirty="0"/>
                    </a:p>
                  </a:txBody>
                  <a:tcPr marL="91440" marR="91440" marT="36576" marB="36576" anchor="ctr">
                    <a:lnL w="9525" cap="flat" cmpd="sng" algn="ctr">
                      <a:solidFill>
                        <a:srgbClr val="BFE5FD"/>
                      </a:solidFill>
                      <a:prstDash val="solid"/>
                      <a:round/>
                      <a:headEnd type="none" w="med" len="med"/>
                      <a:tailEnd type="none" w="med" len="med"/>
                    </a:lnL>
                    <a:lnR w="9525" cap="flat" cmpd="sng" algn="ctr">
                      <a:solidFill>
                        <a:srgbClr val="BFE5FD"/>
                      </a:solidFill>
                      <a:prstDash val="solid"/>
                      <a:round/>
                      <a:headEnd type="none" w="med" len="med"/>
                      <a:tailEnd type="none" w="med" len="med"/>
                    </a:lnR>
                    <a:lnT w="9525" cap="flat" cmpd="sng" algn="ctr">
                      <a:solidFill>
                        <a:srgbClr val="BFE5FD"/>
                      </a:solidFill>
                      <a:prstDash val="solid"/>
                      <a:round/>
                      <a:headEnd type="none" w="med" len="med"/>
                      <a:tailEnd type="none" w="med" len="med"/>
                    </a:lnT>
                    <a:lnB w="9525" cap="flat" cmpd="sng" algn="ctr">
                      <a:solidFill>
                        <a:srgbClr val="BFE5FD"/>
                      </a:solidFill>
                      <a:prstDash val="solid"/>
                      <a:round/>
                      <a:headEnd type="none" w="med" len="med"/>
                      <a:tailEnd type="none" w="med" len="med"/>
                    </a:lnB>
                    <a:solidFill>
                      <a:schemeClr val="bg2"/>
                    </a:solidFill>
                  </a:tcPr>
                </a:tc>
              </a:tr>
            </a:tbl>
          </a:graphicData>
        </a:graphic>
      </p:graphicFrame>
      <p:sp>
        <p:nvSpPr>
          <p:cNvPr id="5" name="Source caption"/>
          <p:cNvSpPr txBox="1"/>
          <p:nvPr/>
        </p:nvSpPr>
        <p:spPr>
          <a:xfrm>
            <a:off x="457200" y="4407408"/>
            <a:ext cx="8229600" cy="274320"/>
          </a:xfrm>
          <a:prstGeom prst="rect">
            <a:avLst/>
          </a:prstGeom>
          <a:noFill/>
          <a:ln/>
        </p:spPr>
        <p:txBody>
          <a:bodyPr wrap="square" lIns="0" tIns="0" rIns="0" bIns="0" rtlCol="0" anchor="t"/>
          <a:lstStyle/>
          <a:p>
            <a:pPr indent="0" marL="0">
              <a:buNone/>
            </a:pPr>
            <a:r>
              <a:rPr lang="en-US" sz="1100" i="1" dirty="0">
                <a:solidFill>
                  <a:schemeClr val="accent4"/>
                </a:solidFill>
              </a:rPr>
              <a:t>Factors 1 to 3 draw on Mishra and Alzoubi (2023). Factors 4 and 5 come from the pilot. Every row pointed SNHU Travel toward Agile.</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658368" y="292608"/>
            <a:ext cx="5486400" cy="274320"/>
          </a:xfrm>
          <a:prstGeom prst="rect">
            <a:avLst/>
          </a:prstGeom>
          <a:noFill/>
          <a:ln/>
        </p:spPr>
        <p:txBody>
          <a:bodyPr wrap="square" lIns="0" tIns="0" rIns="0" bIns="0" rtlCol="0" anchor="ctr"/>
          <a:lstStyle/>
          <a:p>
            <a:pPr algn="l" indent="0" marL="0">
              <a:buNone/>
            </a:pPr>
            <a:r>
              <a:rPr lang="en-US" sz="1100" b="1" spc="100" kern="0" dirty="0">
                <a:solidFill>
                  <a:schemeClr val="accent1"/>
                </a:solidFill>
              </a:rPr>
              <a:t>RECOMMENDATION</a:t>
            </a:r>
            <a:endParaRPr lang="en-US" sz="1100" dirty="0"/>
          </a:p>
        </p:txBody>
      </p:sp>
      <p:sp>
        <p:nvSpPr>
          <p:cNvPr id="3" name="Text 1"/>
          <p:cNvSpPr/>
          <p:nvPr>
            <p:ph idx="102" type="title" hasCustomPrompt="1"/>
          </p:nvPr>
        </p:nvSpPr>
        <p:spPr>
          <a:xfrm>
            <a:off x="457200" y="566928"/>
            <a:ext cx="8229600" cy="548640"/>
          </a:xfrm>
          <a:prstGeom prst="rect">
            <a:avLst/>
          </a:prstGeom>
          <a:noFill/>
          <a:ln/>
        </p:spPr>
        <p:txBody>
          <a:bodyPr wrap="square" lIns="0" tIns="0" rIns="0" bIns="0" rtlCol="0" anchor="t"/>
          <a:lstStyle/>
          <a:p>
            <a:pPr algn="l" indent="0" marL="0">
              <a:buNone/>
            </a:pPr>
            <a:r>
              <a:rPr lang="en-US" sz="2800" b="1" dirty="0">
                <a:solidFill>
                  <a:schemeClr val="bg1"/>
                </a:solidFill>
              </a:rPr>
              <a:t>Adopt Scrum and keep a plan-driven option</a:t>
            </a:r>
            <a:endParaRPr lang="en-US" sz="2800" dirty="0"/>
          </a:p>
        </p:txBody>
      </p:sp>
      <p:sp>
        <p:nvSpPr>
          <p:cNvPr id="4" name="Recommendation 1 card"/>
          <p:cNvSpPr/>
          <p:nvPr/>
        </p:nvSpPr>
        <p:spPr>
          <a:xfrm>
            <a:off x="457200" y="1325880"/>
            <a:ext cx="2560320" cy="3017520"/>
          </a:xfrm>
          <a:prstGeom prst="rect">
            <a:avLst/>
          </a:prstGeom>
          <a:solidFill>
            <a:schemeClr val="accent6"/>
          </a:solidFill>
          <a:ln/>
        </p:spPr>
      </p:sp>
      <p:sp>
        <p:nvSpPr>
          <p:cNvPr id="5" name="Recommendation 1 number"/>
          <p:cNvSpPr txBox="1"/>
          <p:nvPr/>
        </p:nvSpPr>
        <p:spPr>
          <a:xfrm>
            <a:off x="685800" y="1508760"/>
            <a:ext cx="2103120" cy="50292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01</a:t>
            </a:r>
            <a:endParaRPr lang="en-US" sz="3000" dirty="0"/>
          </a:p>
        </p:txBody>
      </p:sp>
      <p:sp>
        <p:nvSpPr>
          <p:cNvPr id="6" name="Recommendation 1 heading"/>
          <p:cNvSpPr txBox="1"/>
          <p:nvPr/>
        </p:nvSpPr>
        <p:spPr>
          <a:xfrm>
            <a:off x="685800" y="2084832"/>
            <a:ext cx="2148840" cy="594360"/>
          </a:xfrm>
          <a:prstGeom prst="rect">
            <a:avLst/>
          </a:prstGeom>
          <a:noFill/>
          <a:ln/>
        </p:spPr>
        <p:txBody>
          <a:bodyPr wrap="square" lIns="0" tIns="0" rIns="0" bIns="0" rtlCol="0" anchor="t"/>
          <a:lstStyle/>
          <a:p>
            <a:pPr indent="0" marL="0">
              <a:buNone/>
            </a:pPr>
            <a:r>
              <a:rPr lang="en-US" sz="1600" b="1" dirty="0">
                <a:solidFill>
                  <a:schemeClr val="bg1"/>
                </a:solidFill>
                <a:latin typeface="+mj-lt" pitchFamily="34" charset="0"/>
                <a:ea typeface="+mj-lt" pitchFamily="34" charset="-122"/>
                <a:cs typeface="+mj-lt" pitchFamily="34" charset="-120"/>
              </a:rPr>
              <a:t>Use Scrum for evolving work</a:t>
            </a:r>
            <a:endParaRPr lang="en-US" sz="1600" dirty="0"/>
          </a:p>
        </p:txBody>
      </p:sp>
      <p:sp>
        <p:nvSpPr>
          <p:cNvPr id="7" name="Recommendation 1 detail"/>
          <p:cNvSpPr txBox="1"/>
          <p:nvPr/>
        </p:nvSpPr>
        <p:spPr>
          <a:xfrm>
            <a:off x="685800" y="2743200"/>
            <a:ext cx="2148840" cy="1508760"/>
          </a:xfrm>
          <a:prstGeom prst="rect">
            <a:avLst/>
          </a:prstGeom>
          <a:noFill/>
          <a:ln/>
        </p:spPr>
        <p:txBody>
          <a:bodyPr wrap="square" lIns="0" tIns="0" rIns="0" bIns="0" rtlCol="0" anchor="t"/>
          <a:lstStyle/>
          <a:p>
            <a:pPr indent="0" marL="0">
              <a:buNone/>
            </a:pPr>
            <a:r>
              <a:rPr lang="en-US" sz="1400" dirty="0">
                <a:solidFill>
                  <a:srgbClr val="D9E1E8"/>
                </a:solidFill>
              </a:rPr>
              <a:t>Client projects whose needs will shift, like SNHU Travel, which absorbed two changes without a restart.</a:t>
            </a:r>
            <a:endParaRPr lang="en-US" sz="1400" dirty="0"/>
          </a:p>
        </p:txBody>
      </p:sp>
      <p:sp>
        <p:nvSpPr>
          <p:cNvPr id="8" name="Recommendation 2 card"/>
          <p:cNvSpPr/>
          <p:nvPr/>
        </p:nvSpPr>
        <p:spPr>
          <a:xfrm>
            <a:off x="3291840" y="1325880"/>
            <a:ext cx="2560320" cy="3017520"/>
          </a:xfrm>
          <a:prstGeom prst="rect">
            <a:avLst/>
          </a:prstGeom>
          <a:solidFill>
            <a:schemeClr val="accent6"/>
          </a:solidFill>
          <a:ln/>
        </p:spPr>
      </p:sp>
      <p:sp>
        <p:nvSpPr>
          <p:cNvPr id="9" name="Recommendation 2 number"/>
          <p:cNvSpPr txBox="1"/>
          <p:nvPr/>
        </p:nvSpPr>
        <p:spPr>
          <a:xfrm>
            <a:off x="3520440" y="1508760"/>
            <a:ext cx="2103120" cy="50292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02</a:t>
            </a:r>
            <a:endParaRPr lang="en-US" sz="3000" dirty="0"/>
          </a:p>
        </p:txBody>
      </p:sp>
      <p:sp>
        <p:nvSpPr>
          <p:cNvPr id="10" name="Recommendation 2 heading"/>
          <p:cNvSpPr txBox="1"/>
          <p:nvPr/>
        </p:nvSpPr>
        <p:spPr>
          <a:xfrm>
            <a:off x="3520440" y="2084832"/>
            <a:ext cx="2148840" cy="594360"/>
          </a:xfrm>
          <a:prstGeom prst="rect">
            <a:avLst/>
          </a:prstGeom>
          <a:noFill/>
          <a:ln/>
        </p:spPr>
        <p:txBody>
          <a:bodyPr wrap="square" lIns="0" tIns="0" rIns="0" bIns="0" rtlCol="0" anchor="t"/>
          <a:lstStyle/>
          <a:p>
            <a:pPr indent="0" marL="0">
              <a:buNone/>
            </a:pPr>
            <a:r>
              <a:rPr lang="en-US" sz="1600" b="1" dirty="0">
                <a:solidFill>
                  <a:schemeClr val="bg1"/>
                </a:solidFill>
                <a:latin typeface="+mj-lt" pitchFamily="34" charset="0"/>
                <a:ea typeface="+mj-lt" pitchFamily="34" charset="-122"/>
                <a:cs typeface="+mj-lt" pitchFamily="34" charset="-120"/>
              </a:rPr>
              <a:t>Keep waterfall for fixed scope</a:t>
            </a:r>
            <a:endParaRPr lang="en-US" sz="1600" dirty="0"/>
          </a:p>
        </p:txBody>
      </p:sp>
      <p:sp>
        <p:nvSpPr>
          <p:cNvPr id="11" name="Recommendation 2 detail"/>
          <p:cNvSpPr txBox="1"/>
          <p:nvPr/>
        </p:nvSpPr>
        <p:spPr>
          <a:xfrm>
            <a:off x="3520440" y="2743200"/>
            <a:ext cx="2148840" cy="1508760"/>
          </a:xfrm>
          <a:prstGeom prst="rect">
            <a:avLst/>
          </a:prstGeom>
          <a:noFill/>
          <a:ln/>
        </p:spPr>
        <p:txBody>
          <a:bodyPr wrap="square" lIns="0" tIns="0" rIns="0" bIns="0" rtlCol="0" anchor="t"/>
          <a:lstStyle/>
          <a:p>
            <a:pPr indent="0" marL="0">
              <a:buNone/>
            </a:pPr>
            <a:r>
              <a:rPr lang="en-US" sz="1400" dirty="0">
                <a:solidFill>
                  <a:srgbClr val="D9E1E8"/>
                </a:solidFill>
              </a:rPr>
              <a:t>Stable, well-defined work with formal sign-offs still fits a plan-driven or hybrid model (Mishra &amp; Alzoubi, 2023).</a:t>
            </a:r>
            <a:endParaRPr lang="en-US" sz="1400" dirty="0"/>
          </a:p>
        </p:txBody>
      </p:sp>
      <p:sp>
        <p:nvSpPr>
          <p:cNvPr id="12" name="Recommendation 3 card"/>
          <p:cNvSpPr/>
          <p:nvPr/>
        </p:nvSpPr>
        <p:spPr>
          <a:xfrm>
            <a:off x="6126480" y="1325880"/>
            <a:ext cx="2560320" cy="3017520"/>
          </a:xfrm>
          <a:prstGeom prst="rect">
            <a:avLst/>
          </a:prstGeom>
          <a:solidFill>
            <a:schemeClr val="accent6"/>
          </a:solidFill>
          <a:ln/>
        </p:spPr>
      </p:sp>
      <p:sp>
        <p:nvSpPr>
          <p:cNvPr id="13" name="Recommendation 3 number"/>
          <p:cNvSpPr txBox="1"/>
          <p:nvPr/>
        </p:nvSpPr>
        <p:spPr>
          <a:xfrm>
            <a:off x="6355080" y="1508760"/>
            <a:ext cx="2103120" cy="50292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03</a:t>
            </a:r>
            <a:endParaRPr lang="en-US" sz="3000" dirty="0"/>
          </a:p>
        </p:txBody>
      </p:sp>
      <p:sp>
        <p:nvSpPr>
          <p:cNvPr id="14" name="Recommendation 3 heading"/>
          <p:cNvSpPr txBox="1"/>
          <p:nvPr/>
        </p:nvSpPr>
        <p:spPr>
          <a:xfrm>
            <a:off x="6355080" y="2084832"/>
            <a:ext cx="2148840" cy="594360"/>
          </a:xfrm>
          <a:prstGeom prst="rect">
            <a:avLst/>
          </a:prstGeom>
          <a:noFill/>
          <a:ln/>
        </p:spPr>
        <p:txBody>
          <a:bodyPr wrap="square" lIns="0" tIns="0" rIns="0" bIns="0" rtlCol="0" anchor="t"/>
          <a:lstStyle/>
          <a:p>
            <a:pPr indent="0" marL="0">
              <a:buNone/>
            </a:pPr>
            <a:r>
              <a:rPr lang="en-US" sz="1600" b="1" dirty="0">
                <a:solidFill>
                  <a:schemeClr val="bg1"/>
                </a:solidFill>
                <a:latin typeface="+mj-lt" pitchFamily="34" charset="0"/>
                <a:ea typeface="+mj-lt" pitchFamily="34" charset="-122"/>
                <a:cs typeface="+mj-lt" pitchFamily="34" charset="-120"/>
              </a:rPr>
              <a:t>Carry the pilot's lessons</a:t>
            </a:r>
            <a:endParaRPr lang="en-US" sz="1600" dirty="0"/>
          </a:p>
        </p:txBody>
      </p:sp>
      <p:sp>
        <p:nvSpPr>
          <p:cNvPr id="15" name="Recommendation 3 detail"/>
          <p:cNvSpPr txBox="1"/>
          <p:nvPr/>
        </p:nvSpPr>
        <p:spPr>
          <a:xfrm>
            <a:off x="6355080" y="2743200"/>
            <a:ext cx="2148840" cy="1508760"/>
          </a:xfrm>
          <a:prstGeom prst="rect">
            <a:avLst/>
          </a:prstGeom>
          <a:noFill/>
          <a:ln/>
        </p:spPr>
        <p:txBody>
          <a:bodyPr wrap="square" lIns="0" tIns="0" rIns="0" bIns="0" rtlCol="0" anchor="t"/>
          <a:lstStyle/>
          <a:p>
            <a:pPr indent="0" marL="0">
              <a:buNone/>
            </a:pPr>
            <a:r>
              <a:rPr lang="en-US" sz="1400" dirty="0">
                <a:solidFill>
                  <a:srgbClr val="D9E1E8"/>
                </a:solidFill>
              </a:rPr>
              <a:t>Write acceptance criteria with measurable limits, keep decisions on a shared board, and protect the Product Owner's time.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658368" y="292608"/>
            <a:ext cx="5486400" cy="274320"/>
          </a:xfrm>
          <a:prstGeom prst="rect">
            <a:avLst/>
          </a:prstGeom>
          <a:noFill/>
          <a:ln/>
        </p:spPr>
        <p:txBody>
          <a:bodyPr wrap="square" lIns="0" tIns="0" rIns="0" bIns="0" rtlCol="0" anchor="ctr"/>
          <a:lstStyle/>
          <a:p>
            <a:pPr algn="l" indent="0" marL="0">
              <a:buNone/>
            </a:pPr>
            <a:r>
              <a:rPr lang="en-US" sz="1100" b="1" spc="100" kern="0" dirty="0">
                <a:solidFill>
                  <a:schemeClr val="tx2"/>
                </a:solidFill>
              </a:rPr>
              <a:t>SOURCES</a:t>
            </a:r>
            <a:endParaRPr lang="en-US" sz="1100" dirty="0"/>
          </a:p>
        </p:txBody>
      </p:sp>
      <p:sp>
        <p:nvSpPr>
          <p:cNvPr id="3" name="Text 1"/>
          <p:cNvSpPr/>
          <p:nvPr>
            <p:ph idx="102" type="title" hasCustomPrompt="1"/>
          </p:nvPr>
        </p:nvSpPr>
        <p:spPr>
          <a:xfrm>
            <a:off x="457200" y="566928"/>
            <a:ext cx="8229600" cy="548640"/>
          </a:xfrm>
          <a:prstGeom prst="rect">
            <a:avLst/>
          </a:prstGeom>
          <a:noFill/>
          <a:ln/>
        </p:spPr>
        <p:txBody>
          <a:bodyPr wrap="square" lIns="0" tIns="0" rIns="0" bIns="0" rtlCol="0" anchor="t"/>
          <a:lstStyle/>
          <a:p>
            <a:pPr algn="l" indent="0" marL="0">
              <a:buNone/>
            </a:pPr>
            <a:r>
              <a:rPr lang="en-US" sz="2800" b="1" dirty="0">
                <a:solidFill>
                  <a:schemeClr val="tx1"/>
                </a:solidFill>
              </a:rPr>
              <a:t>References</a:t>
            </a:r>
            <a:endParaRPr lang="en-US" sz="2800" dirty="0"/>
          </a:p>
        </p:txBody>
      </p:sp>
      <p:sp>
        <p:nvSpPr>
          <p:cNvPr id="4" name="Reference list"/>
          <p:cNvSpPr txBox="1"/>
          <p:nvPr/>
        </p:nvSpPr>
        <p:spPr>
          <a:xfrm>
            <a:off x="457200" y="1234440"/>
            <a:ext cx="8229600" cy="3383280"/>
          </a:xfrm>
          <a:prstGeom prst="rect">
            <a:avLst/>
          </a:prstGeom>
          <a:noFill/>
          <a:ln/>
        </p:spPr>
        <p:txBody>
          <a:bodyPr wrap="square" lIns="0" tIns="0" rIns="0" bIns="0" rtlCol="0" anchor="t"/>
          <a:lstStyle/>
          <a:p>
            <a:pPr marL="457200" indent="-457200">
              <a:spcAft>
                <a:spcPts val="800"/>
              </a:spcAft>
              <a:buNone/>
            </a:pPr>
            <a:r>
              <a:rPr lang="en-US" sz="1200" dirty="0">
                <a:solidFill>
                  <a:schemeClr val="tx1"/>
                </a:solidFill>
              </a:rPr>
              <a:t>Coleman, J. (2024, October 17). </a:t>
            </a:r>
            <a:r>
              <a:rPr lang="en-US" sz="1200" i="1" dirty="0">
                <a:solidFill>
                  <a:schemeClr val="tx1"/>
                </a:solidFill>
              </a:rPr>
              <a:t>Developers accountability in Scrum</a:t>
            </a:r>
            <a:r>
              <a:rPr lang="en-US" sz="1200" dirty="0">
                <a:solidFill>
                  <a:schemeClr val="tx1"/>
                </a:solidFill>
              </a:rPr>
              <a:t>. Scrum.org. https://www.scrum.org/resources/blog/developers-accountability-scrum</a:t>
            </a:r>
            <a:endParaRPr lang="en-US" sz="1200" dirty="0"/>
          </a:p>
          <a:p>
            <a:pPr marL="457200" indent="-457200">
              <a:spcAft>
                <a:spcPts val="800"/>
              </a:spcAft>
              <a:buNone/>
            </a:pPr>
            <a:r>
              <a:rPr lang="en-US" sz="1200" dirty="0">
                <a:solidFill>
                  <a:schemeClr val="tx1"/>
                </a:solidFill>
              </a:rPr>
              <a:t>Jackson, G., Holdsworth, J., &amp; Kosinski, M. (2025, January 2). </a:t>
            </a:r>
            <a:r>
              <a:rPr lang="en-US" sz="1200" i="1" dirty="0">
                <a:solidFill>
                  <a:schemeClr val="tx1"/>
                </a:solidFill>
              </a:rPr>
              <a:t>What is the software development life cycle (SDLC)?</a:t>
            </a:r>
            <a:r>
              <a:rPr lang="en-US" sz="1200" dirty="0">
                <a:solidFill>
                  <a:schemeClr val="tx1"/>
                </a:solidFill>
              </a:rPr>
              <a:t> IBM. https://www.ibm.com/think/topics/sdlc</a:t>
            </a:r>
            <a:endParaRPr lang="en-US" sz="1200" dirty="0"/>
          </a:p>
          <a:p>
            <a:pPr marL="457200" indent="-457200">
              <a:spcAft>
                <a:spcPts val="800"/>
              </a:spcAft>
              <a:buNone/>
            </a:pPr>
            <a:r>
              <a:rPr lang="en-US" sz="1200" dirty="0">
                <a:solidFill>
                  <a:schemeClr val="tx1"/>
                </a:solidFill>
              </a:rPr>
              <a:t>Jocham, R., Coleman, J., &amp; Sutherland, J. (2025). </a:t>
            </a:r>
            <a:r>
              <a:rPr lang="en-US" sz="1200" i="1" dirty="0">
                <a:solidFill>
                  <a:schemeClr val="tx1"/>
                </a:solidFill>
              </a:rPr>
              <a:t>Scrum guide expansion pack</a:t>
            </a:r>
            <a:r>
              <a:rPr lang="en-US" sz="1200" dirty="0">
                <a:solidFill>
                  <a:schemeClr val="tx1"/>
                </a:solidFill>
              </a:rPr>
              <a:t>. https://scrumexpansion.org/scrum-guide-expansion-pack/</a:t>
            </a:r>
            <a:endParaRPr lang="en-US" sz="1200" dirty="0"/>
          </a:p>
          <a:p>
            <a:pPr marL="457200" indent="-457200">
              <a:spcAft>
                <a:spcPts val="800"/>
              </a:spcAft>
              <a:buNone/>
            </a:pPr>
            <a:r>
              <a:rPr lang="en-US" sz="1200" dirty="0">
                <a:solidFill>
                  <a:schemeClr val="tx1"/>
                </a:solidFill>
              </a:rPr>
              <a:t>Mishra, A., &amp; Alzoubi, Y. I. (2023). Structured software development versus agile software development: A comparative analysis. </a:t>
            </a:r>
            <a:r>
              <a:rPr lang="en-US" sz="1200" i="1" dirty="0">
                <a:solidFill>
                  <a:schemeClr val="tx1"/>
                </a:solidFill>
              </a:rPr>
              <a:t>International Journal of System Assurance Engineering and Management, 14</a:t>
            </a:r>
            <a:r>
              <a:rPr lang="en-US" sz="1200" dirty="0">
                <a:solidFill>
                  <a:schemeClr val="tx1"/>
                </a:solidFill>
              </a:rPr>
              <a:t>(4), 1504-1522. https://doi.org/10.1007/s13198-023-01958-5</a:t>
            </a:r>
            <a:endParaRPr lang="en-US" sz="1200" dirty="0"/>
          </a:p>
          <a:p>
            <a:pPr marL="457200" indent="-457200">
              <a:spcAft>
                <a:spcPts val="800"/>
              </a:spcAft>
              <a:buNone/>
            </a:pPr>
            <a:r>
              <a:rPr lang="en-US" sz="1200" dirty="0">
                <a:solidFill>
                  <a:schemeClr val="tx1"/>
                </a:solidFill>
              </a:rPr>
              <a:t>Verwijs, C., &amp; Russo, D. (2023). A theory of Scrum team effectiveness. </a:t>
            </a:r>
            <a:r>
              <a:rPr lang="en-US" sz="1200" i="1" dirty="0">
                <a:solidFill>
                  <a:schemeClr val="tx1"/>
                </a:solidFill>
              </a:rPr>
              <a:t>ACM Transactions on Software Engineering and Methodology, 32</a:t>
            </a:r>
            <a:r>
              <a:rPr lang="en-US" sz="1200" dirty="0">
                <a:solidFill>
                  <a:schemeClr val="tx1"/>
                </a:solidFill>
              </a:rPr>
              <a:t>(3), Article 74. https://doi.org/10.1145/3571849</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ChadaTech">
  <a:themeElements>
    <a:clrScheme name="ChadaTech">
      <a:dk1>
        <a:srgbClr val="15191E"/>
      </a:dk1>
      <a:lt1>
        <a:srgbClr val="FFFFFF"/>
      </a:lt1>
      <a:dk2>
        <a:srgbClr val="0A5E8E"/>
      </a:dk2>
      <a:lt2>
        <a:srgbClr val="EAF6FE"/>
      </a:lt2>
      <a:accent1>
        <a:srgbClr val="28B2FB"/>
      </a:accent1>
      <a:accent2>
        <a:srgbClr val="0A5E8E"/>
      </a:accent2>
      <a:accent3>
        <a:srgbClr val="F28C28"/>
      </a:accent3>
      <a:accent4>
        <a:srgbClr val="5F6B76"/>
      </a:accent4>
      <a:accent5>
        <a:srgbClr val="BFE5FD"/>
      </a:accent5>
      <a:accent6>
        <a:srgbClr val="26303A"/>
      </a:accent6>
      <a:hlink>
        <a:srgbClr val="0A5E8E"/>
      </a:hlink>
      <a:folHlink>
        <a:srgbClr val="5F6B76"/>
      </a:folHlink>
    </a:clrScheme>
    <a:fontScheme name="ChadaTech">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ChadaTech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Moving ChadaTech to Scrum: Lessons from the SNHU Travel Pilot</dc:title>
  <dc:subject>PptxGenJS Presentation</dc:subject>
  <dc:creator>Brendan Malloy</dc:creator>
  <cp:lastModifiedBy>Brendan Malloy</cp:lastModifiedBy>
  <cp:revision>1</cp:revision>
  <dcterms:created xsi:type="dcterms:W3CDTF">2026-10-18T17:25:46Z</dcterms:created>
  <dcterms:modified xsi:type="dcterms:W3CDTF">2026-10-18T17:25:46Z</dcterms:modified>
</cp:coreProperties>
</file>